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64" r:id="rId5"/>
    <p:sldId id="275" r:id="rId6"/>
    <p:sldId id="265" r:id="rId7"/>
    <p:sldId id="266" r:id="rId8"/>
    <p:sldId id="270" r:id="rId9"/>
    <p:sldId id="267" r:id="rId10"/>
    <p:sldId id="268" r:id="rId11"/>
    <p:sldId id="269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C9DB2C-E43D-4B8D-B8F9-C0B5737A0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36FCB3D-FD91-49C8-A074-E8FCBECD6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024207-31E8-45CE-9687-62AEB0880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DEE0-547E-4B1D-9D72-FB7E03DF1EF5}" type="datetimeFigureOut">
              <a:rPr lang="fr-FR" smtClean="0"/>
              <a:t>24/02/2023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7A3AF5-1930-4DD1-8B3F-A0406ACC0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E1D272-EEF2-401A-A268-597654FB1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78D65-A88E-469B-B3AB-B2BC0A1475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820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C205C3-506E-4ED6-A685-3D8ADB24C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67285F-35BA-4082-AED9-DDDE64E85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8A0D86-23B3-4FD4-A399-10045C02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DEE0-547E-4B1D-9D72-FB7E03DF1EF5}" type="datetimeFigureOut">
              <a:rPr lang="fr-FR" smtClean="0"/>
              <a:t>24/02/2023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C9EB36-83CC-4721-8807-1004560E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FB9363-FEC2-4850-9A8B-5E50B9829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78D65-A88E-469B-B3AB-B2BC0A1475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477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04CE73-C8A1-4023-B764-17F3733C4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BCD6DA-6D36-41AE-AC9C-8DECA77ED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05E203-32A7-4F9F-AE1E-9573E84C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DEE0-547E-4B1D-9D72-FB7E03DF1EF5}" type="datetimeFigureOut">
              <a:rPr lang="fr-FR" smtClean="0"/>
              <a:t>24/02/2023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D0D8FF-EF72-4286-A64F-C1FBA0C11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835E9C-E661-40C3-A4AB-48B3F493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78D65-A88E-469B-B3AB-B2BC0A1475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591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F66E64-3775-4E7D-B66B-526D49DB7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BE1C12-DE3B-4816-A64A-0B7C29642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007933-26DE-4A74-A191-D25D06B8F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5BBA53-6584-402B-90D3-5CE578199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DEE0-547E-4B1D-9D72-FB7E03DF1EF5}" type="datetimeFigureOut">
              <a:rPr lang="fr-FR" smtClean="0"/>
              <a:t>24/02/2023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FEB1B3-7B83-4E67-A05E-AB81BEBD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12C224-055A-4F72-8919-3704CA90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78D65-A88E-469B-B3AB-B2BC0A1475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9073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382912-E802-4164-83E9-A1845426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839226-80BA-4AF2-8D63-E0BA35D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70462FC-4CE9-440A-983F-3E181667B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88F140-5955-4750-8D93-840538AA9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803EB39-D1FA-4B21-BC78-1DF3930E7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6AB3E6D-C706-46D8-B5A2-2CB45A46E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DEE0-547E-4B1D-9D72-FB7E03DF1EF5}" type="datetimeFigureOut">
              <a:rPr lang="fr-FR" smtClean="0"/>
              <a:t>24/02/2023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F4B9659-ED7F-4DB3-AD0E-C0BCF63A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7A6B827-8D50-4564-92E5-40FEC7FC0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78D65-A88E-469B-B3AB-B2BC0A1475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7048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AE0619-9767-4B75-8667-5FDC78D6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57DD2D-0FA4-4B1C-9ABC-8DFBD911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DEE0-547E-4B1D-9D72-FB7E03DF1EF5}" type="datetimeFigureOut">
              <a:rPr lang="fr-FR" smtClean="0"/>
              <a:t>24/02/2023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3B1514-7648-44FD-AC93-7526044D4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2A31D7-E13C-4340-83B9-3096CC82C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78D65-A88E-469B-B3AB-B2BC0A1475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66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101931D-F29C-46D3-9082-FB91B08F3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DEE0-547E-4B1D-9D72-FB7E03DF1EF5}" type="datetimeFigureOut">
              <a:rPr lang="fr-FR" smtClean="0"/>
              <a:t>24/02/2023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4D6C67B-EEED-4250-991C-6FF484E44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461F88-941D-403D-8DC9-06CA38107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78D65-A88E-469B-B3AB-B2BC0A1475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87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70971F-AFA1-488E-8E51-62E36415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A166F5-5F41-4BB0-A208-75984E035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D1A5028-FD36-43FF-AC9A-46D885399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2E102C-3432-4606-AF94-95CAF0C3A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DEE0-547E-4B1D-9D72-FB7E03DF1EF5}" type="datetimeFigureOut">
              <a:rPr lang="fr-FR" smtClean="0"/>
              <a:t>24/02/2023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96B086-5FB2-4949-A550-C954BBD1F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F4280A-90F9-451A-88F5-CC4A26D1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78D65-A88E-469B-B3AB-B2BC0A1475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0243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BAA21D-B897-48AB-9FFF-1DA2EAE79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AAB4D09-AF02-46F9-AC28-89FA1315EE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6F21FF-7856-49C9-8D71-66B2474F1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CCD503-A022-47A3-9279-13C8D384B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DEE0-547E-4B1D-9D72-FB7E03DF1EF5}" type="datetimeFigureOut">
              <a:rPr lang="fr-FR" smtClean="0"/>
              <a:t>24/02/2023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08F10D-7EC9-44DE-BC8E-D958A9002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8C3FB5-D096-4C83-A532-EBF3B741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78D65-A88E-469B-B3AB-B2BC0A1475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386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F1AED-D16A-4F72-BD5A-892F654C6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F28295-1AA0-4CA4-A0AB-EFD76A97B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E0984A-4F7A-42BE-BD56-409BDDD29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DEE0-547E-4B1D-9D72-FB7E03DF1EF5}" type="datetimeFigureOut">
              <a:rPr lang="fr-FR" smtClean="0"/>
              <a:t>24/02/2023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FB518D-8C11-4FF7-B6BA-5FEA10778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EE366B-FC66-4B56-868C-98F8851E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78D65-A88E-469B-B3AB-B2BC0A1475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5263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124777C-A333-4BEE-9C81-816DF6475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032A32-E563-4516-91F2-3BE7E8F11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4BCF93-4C75-4E20-B191-D9C34854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DEE0-547E-4B1D-9D72-FB7E03DF1EF5}" type="datetimeFigureOut">
              <a:rPr lang="fr-FR" smtClean="0"/>
              <a:t>24/02/2023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90859E-DDED-4EBC-95E8-A0884BD4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78324B-2947-455C-BF75-39BCFA52C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78D65-A88E-469B-B3AB-B2BC0A1475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0065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814918" y="3621617"/>
            <a:ext cx="11040533" cy="9122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de-DE" dirty="0"/>
              <a:t>Kunde, Ort, Datum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AD48841-BEC3-42ED-8ED9-E7DB5B4B6D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9947" y="6270044"/>
            <a:ext cx="1704699" cy="45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46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8F57834-B5AF-42F9-B50C-F190AE061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5A675F-AF18-4C42-9A69-6E9F57F85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5C0B47-2171-456E-BC3C-157A20267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BDEE0-547E-4B1D-9D72-FB7E03DF1EF5}" type="datetimeFigureOut">
              <a:rPr lang="fr-FR" smtClean="0"/>
              <a:t>24/02/2023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CB7B46-A8DE-45A8-B87E-D0FA6AA6B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9DF1FF-7FE3-4676-9DC9-0B8C6012A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78D65-A88E-469B-B3AB-B2BC0A1475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960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marker.apache.or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idx="4294967295"/>
          </p:nvPr>
        </p:nvSpPr>
        <p:spPr>
          <a:xfrm>
            <a:off x="1149352" y="884767"/>
            <a:ext cx="11042649" cy="411811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>
              <a:tabLst>
                <a:tab pos="2868012" algn="l"/>
              </a:tabLst>
            </a:pPr>
            <a:b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42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KW Adapter</a:t>
            </a:r>
            <a:br>
              <a:rPr lang="en-GB" sz="42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4267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SerieM</a:t>
            </a:r>
            <a:r>
              <a:rPr lang="en-GB" sz="42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Interface</a:t>
            </a:r>
            <a:br>
              <a:rPr lang="en-GB" sz="42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sz="2933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19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idx="4294967295"/>
          </p:nvPr>
        </p:nvSpPr>
        <p:spPr>
          <a:xfrm>
            <a:off x="1149352" y="884767"/>
            <a:ext cx="11042649" cy="4708918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tabLst>
                <a:tab pos="2868012" algn="l"/>
              </a:tabLst>
            </a:pPr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?</a:t>
            </a:r>
            <a:b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StreamServe Migration</a:t>
            </a:r>
            <a:b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Re-use StreamServe configuration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process non XML data : </a:t>
            </a:r>
            <a:r>
              <a:rPr lang="en-GB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FieldIn</a:t>
            </a: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RecordIn</a:t>
            </a: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RDI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Mapping fields for PDF, OTF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Directory scanning</a:t>
            </a:r>
            <a:br>
              <a:rPr lang="en-GB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 Helper</a:t>
            </a:r>
            <a:b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Any input format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Pre-Process data (filter, stylesheet)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Additional data (File, </a:t>
            </a:r>
            <a:r>
              <a:rPr lang="en-GB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jdbc</a:t>
            </a: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script)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GB" sz="2933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74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idx="4294967295"/>
          </p:nvPr>
        </p:nvSpPr>
        <p:spPr>
          <a:xfrm>
            <a:off x="1149351" y="802881"/>
            <a:ext cx="11042649" cy="3711722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marL="571500" indent="-571500" defTabSz="720000">
              <a:buFont typeface="Arial" panose="020B0604020202020204" pitchFamily="34" charset="0"/>
              <a:buChar char="•"/>
              <a:tabLst>
                <a:tab pos="720000" algn="l"/>
                <a:tab pos="2869200" algn="l"/>
              </a:tabLst>
            </a:pPr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KW compliance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Converts any data stream into XML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Splits large Xml into individual documents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Uses Rest API when available, Java API when needed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Document individual settings :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- print to MOMS ?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- Save Tonic document ?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- export PDF ?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- MOMS parameters, template </a:t>
            </a:r>
            <a:r>
              <a:rPr lang="en-GB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metadatas</a:t>
            </a:r>
            <a:endParaRPr lang="en-GB" sz="2933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  <p:sp>
        <p:nvSpPr>
          <p:cNvPr id="4" name="Titel 5">
            <a:extLst>
              <a:ext uri="{FF2B5EF4-FFF2-40B4-BE49-F238E27FC236}">
                <a16:creationId xmlns:a16="http://schemas.microsoft.com/office/drawing/2014/main" id="{1E1E5F49-AEDF-4B80-BD61-F11A2572D3AC}"/>
              </a:ext>
            </a:extLst>
          </p:cNvPr>
          <p:cNvSpPr txBox="1">
            <a:spLocks/>
          </p:cNvSpPr>
          <p:nvPr/>
        </p:nvSpPr>
        <p:spPr>
          <a:xfrm>
            <a:off x="1149350" y="4521271"/>
            <a:ext cx="11042649" cy="175432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defTabSz="720000">
              <a:buFont typeface="Arial" panose="020B0604020202020204" pitchFamily="34" charset="0"/>
              <a:buChar char="•"/>
              <a:tabLst>
                <a:tab pos="720000" algn="l"/>
                <a:tab pos="2869200" algn="l"/>
              </a:tabLst>
            </a:pPr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StreamServe compliance</a:t>
            </a:r>
            <a:b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- </a:t>
            </a:r>
            <a:r>
              <a:rPr lang="en-GB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FieldIn</a:t>
            </a: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GB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recordIn</a:t>
            </a: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description syntax</a:t>
            </a:r>
          </a:p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- </a:t>
            </a:r>
            <a:r>
              <a:rPr lang="en-GB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PreformatIn</a:t>
            </a: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syntax for </a:t>
            </a:r>
            <a:r>
              <a:rPr lang="en-GB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PDFIn</a:t>
            </a: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GB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OTFIn</a:t>
            </a:r>
            <a:endParaRPr lang="en-GB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- Document identification and triggering based on input data</a:t>
            </a:r>
          </a:p>
        </p:txBody>
      </p:sp>
    </p:spTree>
    <p:extLst>
      <p:ext uri="{BB962C8B-B14F-4D97-AF65-F5344CB8AC3E}">
        <p14:creationId xmlns:p14="http://schemas.microsoft.com/office/powerpoint/2010/main" val="1276295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idx="4294967295"/>
          </p:nvPr>
        </p:nvSpPr>
        <p:spPr>
          <a:xfrm>
            <a:off x="1149351" y="802881"/>
            <a:ext cx="11042649" cy="49853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933" dirty="0"/>
              <a:t>Process Overview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  <p:grpSp>
        <p:nvGrpSpPr>
          <p:cNvPr id="77" name="Groupe 76">
            <a:extLst>
              <a:ext uri="{FF2B5EF4-FFF2-40B4-BE49-F238E27FC236}">
                <a16:creationId xmlns:a16="http://schemas.microsoft.com/office/drawing/2014/main" id="{E42FA6CF-7762-43D6-A6E8-BBDEFE27F58D}"/>
              </a:ext>
            </a:extLst>
          </p:cNvPr>
          <p:cNvGrpSpPr/>
          <p:nvPr/>
        </p:nvGrpSpPr>
        <p:grpSpPr>
          <a:xfrm>
            <a:off x="595512" y="1475618"/>
            <a:ext cx="10624028" cy="3599544"/>
            <a:chOff x="397151" y="2128761"/>
            <a:chExt cx="10624028" cy="3599544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EEC2828-749A-4BE9-84C9-65662B8783D8}"/>
                </a:ext>
              </a:extLst>
            </p:cNvPr>
            <p:cNvSpPr/>
            <p:nvPr/>
          </p:nvSpPr>
          <p:spPr>
            <a:xfrm>
              <a:off x="6936255" y="2128762"/>
              <a:ext cx="4084924" cy="3599543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Multithreaded</a:t>
              </a: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68733A5-4E85-4B68-9B23-25C2DA1BDF62}"/>
                </a:ext>
              </a:extLst>
            </p:cNvPr>
            <p:cNvSpPr/>
            <p:nvPr/>
          </p:nvSpPr>
          <p:spPr>
            <a:xfrm>
              <a:off x="397151" y="2128761"/>
              <a:ext cx="6439505" cy="3599543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Multithreaded</a:t>
              </a: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4F6C37B-6284-4145-8B84-7BE7E3AC335D}"/>
                </a:ext>
              </a:extLst>
            </p:cNvPr>
            <p:cNvSpPr/>
            <p:nvPr/>
          </p:nvSpPr>
          <p:spPr>
            <a:xfrm>
              <a:off x="2757864" y="2714106"/>
              <a:ext cx="1542011" cy="7148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Document identification</a:t>
              </a:r>
              <a:endParaRPr lang="fr-FR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8B4166-6C7D-49E5-B9DC-96D72A95D548}"/>
                </a:ext>
              </a:extLst>
            </p:cNvPr>
            <p:cNvSpPr/>
            <p:nvPr/>
          </p:nvSpPr>
          <p:spPr>
            <a:xfrm>
              <a:off x="5258492" y="3171306"/>
              <a:ext cx="1542011" cy="7148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Document </a:t>
              </a:r>
              <a:r>
                <a:rPr lang="en-US" dirty="0" err="1"/>
                <a:t>datasources</a:t>
              </a:r>
              <a:endParaRPr lang="fr-FR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9EAD0C0-C52C-4C68-AA19-055685E0AC0A}"/>
                </a:ext>
              </a:extLst>
            </p:cNvPr>
            <p:cNvSpPr/>
            <p:nvPr/>
          </p:nvSpPr>
          <p:spPr>
            <a:xfrm>
              <a:off x="673448" y="3171306"/>
              <a:ext cx="1542011" cy="7148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 stream</a:t>
              </a:r>
              <a:endParaRPr lang="fr-FR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AA0AA78-E2BC-40C1-8CE3-D6CDD92448B3}"/>
                </a:ext>
              </a:extLst>
            </p:cNvPr>
            <p:cNvSpPr/>
            <p:nvPr/>
          </p:nvSpPr>
          <p:spPr>
            <a:xfrm>
              <a:off x="2910264" y="2866506"/>
              <a:ext cx="1542011" cy="7148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Document identification</a:t>
              </a:r>
              <a:endParaRPr lang="fr-FR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68BB14E-A429-4167-BD8F-1E8DA42FEF77}"/>
                </a:ext>
              </a:extLst>
            </p:cNvPr>
            <p:cNvSpPr/>
            <p:nvPr/>
          </p:nvSpPr>
          <p:spPr>
            <a:xfrm>
              <a:off x="3062664" y="3018906"/>
              <a:ext cx="1542011" cy="7148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Document identification</a:t>
              </a:r>
              <a:endParaRPr lang="fr-FR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E6F00B1-EB43-470C-A8C5-2A177B3A908B}"/>
                </a:ext>
              </a:extLst>
            </p:cNvPr>
            <p:cNvSpPr/>
            <p:nvPr/>
          </p:nvSpPr>
          <p:spPr>
            <a:xfrm>
              <a:off x="3215064" y="3171306"/>
              <a:ext cx="1542011" cy="7148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Document identification</a:t>
              </a:r>
              <a:endParaRPr lang="fr-FR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F735891-E0AF-41DA-8114-A74716AC87BF}"/>
                </a:ext>
              </a:extLst>
            </p:cNvPr>
            <p:cNvSpPr/>
            <p:nvPr/>
          </p:nvSpPr>
          <p:spPr>
            <a:xfrm>
              <a:off x="7052656" y="3171306"/>
              <a:ext cx="1542011" cy="7148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KW APIs</a:t>
              </a:r>
              <a:endParaRPr lang="fr-FR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190E1C9-528B-451F-9335-C164EBF3F956}"/>
                </a:ext>
              </a:extLst>
            </p:cNvPr>
            <p:cNvSpPr/>
            <p:nvPr/>
          </p:nvSpPr>
          <p:spPr>
            <a:xfrm>
              <a:off x="2801368" y="4331487"/>
              <a:ext cx="3999135" cy="12607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Parsers:</a:t>
              </a:r>
            </a:p>
            <a:p>
              <a:pPr algn="ctr"/>
              <a:r>
                <a:rPr lang="en-US" dirty="0"/>
                <a:t>Field, record, xml, </a:t>
              </a:r>
              <a:r>
                <a:rPr lang="en-US" dirty="0" err="1"/>
                <a:t>jdbc</a:t>
              </a:r>
              <a:r>
                <a:rPr lang="en-US" dirty="0"/>
                <a:t>, script</a:t>
              </a:r>
              <a:endParaRPr lang="fr-FR" dirty="0"/>
            </a:p>
          </p:txBody>
        </p: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E6410BA2-445A-4B30-8546-237D15943816}"/>
                </a:ext>
              </a:extLst>
            </p:cNvPr>
            <p:cNvCxnSpPr>
              <a:cxnSpLocks/>
              <a:stCxn id="4" idx="2"/>
              <a:endCxn id="54" idx="0"/>
            </p:cNvCxnSpPr>
            <p:nvPr/>
          </p:nvCxnSpPr>
          <p:spPr>
            <a:xfrm flipH="1">
              <a:off x="4800936" y="3886200"/>
              <a:ext cx="1228562" cy="445287"/>
            </a:xfrm>
            <a:prstGeom prst="straightConnector1">
              <a:avLst/>
            </a:prstGeom>
            <a:ln w="38100" cmpd="sng">
              <a:solidFill>
                <a:schemeClr val="accent2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avec flèche 27">
              <a:extLst>
                <a:ext uri="{FF2B5EF4-FFF2-40B4-BE49-F238E27FC236}">
                  <a16:creationId xmlns:a16="http://schemas.microsoft.com/office/drawing/2014/main" id="{E464926B-4256-495D-AB15-FAF618BCF6C3}"/>
                </a:ext>
              </a:extLst>
            </p:cNvPr>
            <p:cNvCxnSpPr>
              <a:stCxn id="45" idx="3"/>
              <a:endCxn id="49" idx="1"/>
            </p:cNvCxnSpPr>
            <p:nvPr/>
          </p:nvCxnSpPr>
          <p:spPr>
            <a:xfrm>
              <a:off x="2215459" y="3528753"/>
              <a:ext cx="9996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93C51BFC-8F77-4357-80F6-EEB902E41B29}"/>
                </a:ext>
              </a:extLst>
            </p:cNvPr>
            <p:cNvCxnSpPr>
              <a:stCxn id="49" idx="3"/>
              <a:endCxn id="4" idx="1"/>
            </p:cNvCxnSpPr>
            <p:nvPr/>
          </p:nvCxnSpPr>
          <p:spPr>
            <a:xfrm>
              <a:off x="4757075" y="3528753"/>
              <a:ext cx="501417" cy="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avec flèche 55">
              <a:extLst>
                <a:ext uri="{FF2B5EF4-FFF2-40B4-BE49-F238E27FC236}">
                  <a16:creationId xmlns:a16="http://schemas.microsoft.com/office/drawing/2014/main" id="{E4485193-6549-48FA-A75A-0A6303F1FF04}"/>
                </a:ext>
              </a:extLst>
            </p:cNvPr>
            <p:cNvCxnSpPr>
              <a:stCxn id="4" idx="3"/>
              <a:endCxn id="52" idx="1"/>
            </p:cNvCxnSpPr>
            <p:nvPr/>
          </p:nvCxnSpPr>
          <p:spPr>
            <a:xfrm>
              <a:off x="6800503" y="3528753"/>
              <a:ext cx="252153" cy="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avec flèche 60">
              <a:extLst>
                <a:ext uri="{FF2B5EF4-FFF2-40B4-BE49-F238E27FC236}">
                  <a16:creationId xmlns:a16="http://schemas.microsoft.com/office/drawing/2014/main" id="{02C22FED-F129-4346-8C50-E40B354647A2}"/>
                </a:ext>
              </a:extLst>
            </p:cNvPr>
            <p:cNvCxnSpPr>
              <a:cxnSpLocks/>
              <a:stCxn id="52" idx="3"/>
              <a:endCxn id="70" idx="1"/>
            </p:cNvCxnSpPr>
            <p:nvPr/>
          </p:nvCxnSpPr>
          <p:spPr>
            <a:xfrm flipV="1">
              <a:off x="8594667" y="2813859"/>
              <a:ext cx="774740" cy="71489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avec flèche 62">
              <a:extLst>
                <a:ext uri="{FF2B5EF4-FFF2-40B4-BE49-F238E27FC236}">
                  <a16:creationId xmlns:a16="http://schemas.microsoft.com/office/drawing/2014/main" id="{AA9E45EB-CD73-45D9-81EC-523FF0A074E3}"/>
                </a:ext>
              </a:extLst>
            </p:cNvPr>
            <p:cNvCxnSpPr>
              <a:cxnSpLocks/>
              <a:stCxn id="52" idx="3"/>
              <a:endCxn id="67" idx="1"/>
            </p:cNvCxnSpPr>
            <p:nvPr/>
          </p:nvCxnSpPr>
          <p:spPr>
            <a:xfrm>
              <a:off x="8594667" y="3528753"/>
              <a:ext cx="773056" cy="71489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8">
              <a:extLst>
                <a:ext uri="{FF2B5EF4-FFF2-40B4-BE49-F238E27FC236}">
                  <a16:creationId xmlns:a16="http://schemas.microsoft.com/office/drawing/2014/main" id="{1854642B-03BB-4EAE-A065-AE44F35CFE04}"/>
                </a:ext>
              </a:extLst>
            </p:cNvPr>
            <p:cNvGrpSpPr/>
            <p:nvPr/>
          </p:nvGrpSpPr>
          <p:grpSpPr>
            <a:xfrm>
              <a:off x="9367723" y="3976167"/>
              <a:ext cx="1079280" cy="534960"/>
              <a:chOff x="5268600" y="2869920"/>
              <a:chExt cx="1079280" cy="534960"/>
            </a:xfrm>
          </p:grpSpPr>
          <p:sp>
            <p:nvSpPr>
              <p:cNvPr id="67" name="CustomShape 9">
                <a:extLst>
                  <a:ext uri="{FF2B5EF4-FFF2-40B4-BE49-F238E27FC236}">
                    <a16:creationId xmlns:a16="http://schemas.microsoft.com/office/drawing/2014/main" id="{D18E270A-6B6F-4DC8-AEE8-2603E5A7F262}"/>
                  </a:ext>
                </a:extLst>
              </p:cNvPr>
              <p:cNvSpPr/>
              <p:nvPr/>
            </p:nvSpPr>
            <p:spPr>
              <a:xfrm>
                <a:off x="5268600" y="2869920"/>
                <a:ext cx="1079280" cy="534960"/>
              </a:xfrm>
              <a:prstGeom prst="roundRect">
                <a:avLst>
                  <a:gd name="adj" fmla="val 0"/>
                </a:avLst>
              </a:prstGeom>
              <a:solidFill>
                <a:srgbClr val="E30018"/>
              </a:solidFill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36000" tIns="36000" rIns="36000" bIns="36000"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GB" sz="1000" b="0" strike="noStrike" spc="-1">
                    <a:solidFill>
                      <a:srgbClr val="FFFFFF"/>
                    </a:solidFill>
                    <a:latin typeface="Open Sans"/>
                    <a:ea typeface="Open Sans"/>
                  </a:rPr>
                  <a:t>M/OMS</a:t>
                </a:r>
                <a:endParaRPr lang="en-GB" sz="1000" b="0" strike="noStrike" spc="-1">
                  <a:latin typeface="Arial"/>
                </a:endParaRPr>
              </a:p>
            </p:txBody>
          </p:sp>
          <p:pic>
            <p:nvPicPr>
              <p:cNvPr id="68" name="Grafik 16">
                <a:extLst>
                  <a:ext uri="{FF2B5EF4-FFF2-40B4-BE49-F238E27FC236}">
                    <a16:creationId xmlns:a16="http://schemas.microsoft.com/office/drawing/2014/main" id="{F29E8B5A-F75C-45D8-B8D3-EE9FBB5FF3EA}"/>
                  </a:ext>
                </a:extLst>
              </p:cNvPr>
              <p:cNvPicPr/>
              <p:nvPr/>
            </p:nvPicPr>
            <p:blipFill>
              <a:blip r:embed="rId3"/>
              <a:stretch/>
            </p:blipFill>
            <p:spPr>
              <a:xfrm>
                <a:off x="5700600" y="3114360"/>
                <a:ext cx="221760" cy="221760"/>
              </a:xfrm>
              <a:prstGeom prst="rect">
                <a:avLst/>
              </a:prstGeom>
              <a:ln w="9360">
                <a:solidFill>
                  <a:schemeClr val="bg1"/>
                </a:solidFill>
                <a:round/>
              </a:ln>
            </p:spPr>
          </p:pic>
        </p:grpSp>
        <p:grpSp>
          <p:nvGrpSpPr>
            <p:cNvPr id="69" name="Group 24">
              <a:extLst>
                <a:ext uri="{FF2B5EF4-FFF2-40B4-BE49-F238E27FC236}">
                  <a16:creationId xmlns:a16="http://schemas.microsoft.com/office/drawing/2014/main" id="{E398EABF-7EE4-4EB9-89BB-5ECD968E66EE}"/>
                </a:ext>
              </a:extLst>
            </p:cNvPr>
            <p:cNvGrpSpPr/>
            <p:nvPr/>
          </p:nvGrpSpPr>
          <p:grpSpPr>
            <a:xfrm>
              <a:off x="9369407" y="2546379"/>
              <a:ext cx="1079280" cy="534960"/>
              <a:chOff x="3696120" y="2180160"/>
              <a:chExt cx="1079280" cy="534960"/>
            </a:xfrm>
          </p:grpSpPr>
          <p:sp>
            <p:nvSpPr>
              <p:cNvPr id="70" name="CustomShape 25">
                <a:extLst>
                  <a:ext uri="{FF2B5EF4-FFF2-40B4-BE49-F238E27FC236}">
                    <a16:creationId xmlns:a16="http://schemas.microsoft.com/office/drawing/2014/main" id="{F1E7C134-B8C1-4105-ACB1-14073A77FDE9}"/>
                  </a:ext>
                </a:extLst>
              </p:cNvPr>
              <p:cNvSpPr/>
              <p:nvPr/>
            </p:nvSpPr>
            <p:spPr>
              <a:xfrm>
                <a:off x="3696120" y="2180160"/>
                <a:ext cx="1079280" cy="534960"/>
              </a:xfrm>
              <a:prstGeom prst="roundRect">
                <a:avLst>
                  <a:gd name="adj" fmla="val 0"/>
                </a:avLst>
              </a:prstGeom>
              <a:solidFill>
                <a:srgbClr val="E30018"/>
              </a:solidFill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36000" tIns="36000" rIns="36000" bIns="36000"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GB" sz="1000" b="0" strike="noStrike" spc="-1">
                    <a:solidFill>
                      <a:srgbClr val="FFFFFF"/>
                    </a:solidFill>
                    <a:latin typeface="Open Sans"/>
                    <a:ea typeface="Open Sans"/>
                  </a:rPr>
                  <a:t>M/TEXT TONIC</a:t>
                </a:r>
                <a:endParaRPr lang="en-GB" sz="1000" b="0" strike="noStrike" spc="-1">
                  <a:latin typeface="Arial"/>
                </a:endParaRPr>
              </a:p>
            </p:txBody>
          </p:sp>
          <p:pic>
            <p:nvPicPr>
              <p:cNvPr id="71" name="Grafik 37">
                <a:extLst>
                  <a:ext uri="{FF2B5EF4-FFF2-40B4-BE49-F238E27FC236}">
                    <a16:creationId xmlns:a16="http://schemas.microsoft.com/office/drawing/2014/main" id="{245E4247-D7DC-4E9A-8AC8-B6B3A8F0BEEF}"/>
                  </a:ext>
                </a:extLst>
              </p:cNvPr>
              <p:cNvPicPr/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/>
            </p:blipFill>
            <p:spPr>
              <a:xfrm>
                <a:off x="4086000" y="2405880"/>
                <a:ext cx="261000" cy="261720"/>
              </a:xfrm>
              <a:prstGeom prst="rect">
                <a:avLst/>
              </a:prstGeom>
              <a:ln>
                <a:noFill/>
              </a:ln>
            </p:spPr>
          </p:pic>
        </p:grpSp>
      </p:grp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4FDD626A-4CF5-0AB4-6113-A93DF8188CE4}"/>
              </a:ext>
            </a:extLst>
          </p:cNvPr>
          <p:cNvCxnSpPr>
            <a:cxnSpLocks/>
            <a:stCxn id="49" idx="2"/>
            <a:endCxn id="54" idx="0"/>
          </p:cNvCxnSpPr>
          <p:nvPr/>
        </p:nvCxnSpPr>
        <p:spPr>
          <a:xfrm>
            <a:off x="4184431" y="3233057"/>
            <a:ext cx="814866" cy="445287"/>
          </a:xfrm>
          <a:prstGeom prst="straightConnector1">
            <a:avLst/>
          </a:prstGeom>
          <a:ln w="38100" cmpd="sng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91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idx="4294967295"/>
          </p:nvPr>
        </p:nvSpPr>
        <p:spPr>
          <a:xfrm>
            <a:off x="1149351" y="802881"/>
            <a:ext cx="11042649" cy="49853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933" dirty="0"/>
              <a:t>Modules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C40C3290-FA25-C22D-74BA-5466C6DEBB5E}"/>
              </a:ext>
            </a:extLst>
          </p:cNvPr>
          <p:cNvGrpSpPr/>
          <p:nvPr/>
        </p:nvGrpSpPr>
        <p:grpSpPr>
          <a:xfrm>
            <a:off x="1287642" y="1431391"/>
            <a:ext cx="9878682" cy="2641633"/>
            <a:chOff x="1287642" y="1431391"/>
            <a:chExt cx="9878682" cy="2641633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6AED3125-3A6F-DBAE-CE9A-29043F89C690}"/>
                </a:ext>
              </a:extLst>
            </p:cNvPr>
            <p:cNvSpPr/>
            <p:nvPr/>
          </p:nvSpPr>
          <p:spPr>
            <a:xfrm>
              <a:off x="7378096" y="1431391"/>
              <a:ext cx="3788228" cy="264163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CustomShape 4">
              <a:extLst>
                <a:ext uri="{FF2B5EF4-FFF2-40B4-BE49-F238E27FC236}">
                  <a16:creationId xmlns:a16="http://schemas.microsoft.com/office/drawing/2014/main" id="{0E32E9F6-92FD-4381-89AC-74855697662B}"/>
                </a:ext>
              </a:extLst>
            </p:cNvPr>
            <p:cNvSpPr/>
            <p:nvPr/>
          </p:nvSpPr>
          <p:spPr>
            <a:xfrm>
              <a:off x="1287642" y="3168951"/>
              <a:ext cx="5680672" cy="444690"/>
            </a:xfrm>
            <a:prstGeom prst="roundRect">
              <a:avLst>
                <a:gd name="adj" fmla="val 0"/>
              </a:avLst>
            </a:prstGeom>
            <a:solidFill>
              <a:srgbClr val="5CAEE6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36000" tIns="36000" rIns="36000" bIns="36000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GB" sz="1000" spc="-1" dirty="0">
                  <a:latin typeface="Arial"/>
                </a:rPr>
                <a:t>Configuration</a:t>
              </a:r>
              <a:endParaRPr lang="en-GB" sz="1000" b="0" strike="noStrike" spc="-1" dirty="0">
                <a:latin typeface="Arial"/>
              </a:endParaRPr>
            </a:p>
          </p:txBody>
        </p:sp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AB23C5A9-CBB5-4A2D-97A4-B24366467153}"/>
                </a:ext>
              </a:extLst>
            </p:cNvPr>
            <p:cNvGrpSpPr/>
            <p:nvPr/>
          </p:nvGrpSpPr>
          <p:grpSpPr>
            <a:xfrm>
              <a:off x="1287643" y="2200316"/>
              <a:ext cx="1335760" cy="611877"/>
              <a:chOff x="2567500" y="1835622"/>
              <a:chExt cx="1513183" cy="534960"/>
            </a:xfrm>
          </p:grpSpPr>
          <p:sp>
            <p:nvSpPr>
              <p:cNvPr id="11" name="CustomShape 4">
                <a:extLst>
                  <a:ext uri="{FF2B5EF4-FFF2-40B4-BE49-F238E27FC236}">
                    <a16:creationId xmlns:a16="http://schemas.microsoft.com/office/drawing/2014/main" id="{A4858FE4-49C0-4450-A035-282E160BD4AE}"/>
                  </a:ext>
                </a:extLst>
              </p:cNvPr>
              <p:cNvSpPr/>
              <p:nvPr/>
            </p:nvSpPr>
            <p:spPr>
              <a:xfrm>
                <a:off x="2567500" y="1835622"/>
                <a:ext cx="1513183" cy="534960"/>
              </a:xfrm>
              <a:prstGeom prst="roundRect">
                <a:avLst>
                  <a:gd name="adj" fmla="val 0"/>
                </a:avLst>
              </a:prstGeom>
              <a:solidFill>
                <a:srgbClr val="5CAEE6"/>
              </a:solidFill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36000" tIns="36000" rIns="36000" bIns="36000"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GB" sz="1000" b="0" strike="noStrike" spc="-1" dirty="0" err="1">
                    <a:latin typeface="Arial"/>
                  </a:rPr>
                  <a:t>Scandir</a:t>
                </a:r>
                <a:endParaRPr lang="en-GB" sz="1000" b="0" strike="noStrike" spc="-1" dirty="0">
                  <a:latin typeface="Arial"/>
                </a:endParaRPr>
              </a:p>
            </p:txBody>
          </p:sp>
          <p:pic>
            <p:nvPicPr>
              <p:cNvPr id="12" name="Grafik 9">
                <a:extLst>
                  <a:ext uri="{FF2B5EF4-FFF2-40B4-BE49-F238E27FC236}">
                    <a16:creationId xmlns:a16="http://schemas.microsoft.com/office/drawing/2014/main" id="{51D4E437-34C9-468F-B1F5-E98EA7A1FA60}"/>
                  </a:ext>
                </a:extLst>
              </p:cNvPr>
              <p:cNvPicPr/>
              <p:nvPr/>
            </p:nvPicPr>
            <p:blipFill>
              <a:blip r:embed="rId3"/>
              <a:stretch/>
            </p:blipFill>
            <p:spPr>
              <a:xfrm>
                <a:off x="3189028" y="2044437"/>
                <a:ext cx="291151" cy="273701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96AEF786-3230-4B3D-B587-A4237A3935D9}"/>
                </a:ext>
              </a:extLst>
            </p:cNvPr>
            <p:cNvGrpSpPr/>
            <p:nvPr/>
          </p:nvGrpSpPr>
          <p:grpSpPr>
            <a:xfrm>
              <a:off x="2754778" y="2200316"/>
              <a:ext cx="1335760" cy="611877"/>
              <a:chOff x="2567500" y="1835622"/>
              <a:chExt cx="1513183" cy="534960"/>
            </a:xfrm>
          </p:grpSpPr>
          <p:sp>
            <p:nvSpPr>
              <p:cNvPr id="14" name="CustomShape 4">
                <a:extLst>
                  <a:ext uri="{FF2B5EF4-FFF2-40B4-BE49-F238E27FC236}">
                    <a16:creationId xmlns:a16="http://schemas.microsoft.com/office/drawing/2014/main" id="{0B40CBB7-94B6-4088-9276-4831AC409670}"/>
                  </a:ext>
                </a:extLst>
              </p:cNvPr>
              <p:cNvSpPr/>
              <p:nvPr/>
            </p:nvSpPr>
            <p:spPr>
              <a:xfrm>
                <a:off x="2567500" y="1835622"/>
                <a:ext cx="1513183" cy="534960"/>
              </a:xfrm>
              <a:prstGeom prst="roundRect">
                <a:avLst>
                  <a:gd name="adj" fmla="val 0"/>
                </a:avLst>
              </a:prstGeom>
              <a:solidFill>
                <a:srgbClr val="5CAEE6"/>
              </a:solidFill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36000" tIns="36000" rIns="36000" bIns="36000"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GB" sz="1000" spc="-1" dirty="0">
                    <a:latin typeface="Arial"/>
                  </a:rPr>
                  <a:t>Parser</a:t>
                </a:r>
                <a:endParaRPr lang="en-GB" sz="1000" b="0" strike="noStrike" spc="-1" dirty="0">
                  <a:latin typeface="Arial"/>
                </a:endParaRPr>
              </a:p>
            </p:txBody>
          </p:sp>
          <p:pic>
            <p:nvPicPr>
              <p:cNvPr id="15" name="Grafik 9">
                <a:extLst>
                  <a:ext uri="{FF2B5EF4-FFF2-40B4-BE49-F238E27FC236}">
                    <a16:creationId xmlns:a16="http://schemas.microsoft.com/office/drawing/2014/main" id="{777DF321-AEF7-4CBA-A4BE-84B21B35E429}"/>
                  </a:ext>
                </a:extLst>
              </p:cNvPr>
              <p:cNvPicPr/>
              <p:nvPr/>
            </p:nvPicPr>
            <p:blipFill>
              <a:blip r:embed="rId3"/>
              <a:stretch/>
            </p:blipFill>
            <p:spPr>
              <a:xfrm>
                <a:off x="3189028" y="2044437"/>
                <a:ext cx="291151" cy="273701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2E3E0317-86BC-4F86-91E4-59BB4D8B9B6C}"/>
                </a:ext>
              </a:extLst>
            </p:cNvPr>
            <p:cNvGrpSpPr/>
            <p:nvPr/>
          </p:nvGrpSpPr>
          <p:grpSpPr>
            <a:xfrm>
              <a:off x="7547915" y="1772831"/>
              <a:ext cx="1335760" cy="1840810"/>
              <a:chOff x="2578011" y="1835622"/>
              <a:chExt cx="1513183" cy="534960"/>
            </a:xfrm>
          </p:grpSpPr>
          <p:sp>
            <p:nvSpPr>
              <p:cNvPr id="17" name="CustomShape 4">
                <a:extLst>
                  <a:ext uri="{FF2B5EF4-FFF2-40B4-BE49-F238E27FC236}">
                    <a16:creationId xmlns:a16="http://schemas.microsoft.com/office/drawing/2014/main" id="{16A5FAD4-1D84-41AD-9741-BFF0663DD3DC}"/>
                  </a:ext>
                </a:extLst>
              </p:cNvPr>
              <p:cNvSpPr/>
              <p:nvPr/>
            </p:nvSpPr>
            <p:spPr>
              <a:xfrm>
                <a:off x="2578011" y="1835622"/>
                <a:ext cx="1513183" cy="534960"/>
              </a:xfrm>
              <a:prstGeom prst="roundRect">
                <a:avLst>
                  <a:gd name="adj" fmla="val 0"/>
                </a:avLst>
              </a:prstGeom>
              <a:solidFill>
                <a:srgbClr val="5CAEE6"/>
              </a:solidFill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36000" tIns="36000" rIns="36000" bIns="36000"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GB" sz="1000" b="0" strike="noStrike" spc="-1" dirty="0">
                    <a:latin typeface="Arial"/>
                  </a:rPr>
                  <a:t>KW APIs</a:t>
                </a:r>
              </a:p>
            </p:txBody>
          </p:sp>
          <p:pic>
            <p:nvPicPr>
              <p:cNvPr id="18" name="Grafik 9">
                <a:extLst>
                  <a:ext uri="{FF2B5EF4-FFF2-40B4-BE49-F238E27FC236}">
                    <a16:creationId xmlns:a16="http://schemas.microsoft.com/office/drawing/2014/main" id="{F058F9D4-7FD3-4DB0-8B5F-6A60F58E72C8}"/>
                  </a:ext>
                </a:extLst>
              </p:cNvPr>
              <p:cNvPicPr/>
              <p:nvPr/>
            </p:nvPicPr>
            <p:blipFill>
              <a:blip r:embed="rId3"/>
              <a:stretch/>
            </p:blipFill>
            <p:spPr>
              <a:xfrm>
                <a:off x="3185819" y="2152545"/>
                <a:ext cx="493265" cy="165593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19" name="Groupe 18">
              <a:extLst>
                <a:ext uri="{FF2B5EF4-FFF2-40B4-BE49-F238E27FC236}">
                  <a16:creationId xmlns:a16="http://schemas.microsoft.com/office/drawing/2014/main" id="{10DEE47A-B33B-4F57-9CC9-AA15A8C78A23}"/>
                </a:ext>
              </a:extLst>
            </p:cNvPr>
            <p:cNvGrpSpPr/>
            <p:nvPr/>
          </p:nvGrpSpPr>
          <p:grpSpPr>
            <a:xfrm>
              <a:off x="4205991" y="2200315"/>
              <a:ext cx="1335760" cy="611877"/>
              <a:chOff x="2567500" y="1835622"/>
              <a:chExt cx="1513183" cy="534960"/>
            </a:xfrm>
          </p:grpSpPr>
          <p:sp>
            <p:nvSpPr>
              <p:cNvPr id="20" name="CustomShape 4">
                <a:extLst>
                  <a:ext uri="{FF2B5EF4-FFF2-40B4-BE49-F238E27FC236}">
                    <a16:creationId xmlns:a16="http://schemas.microsoft.com/office/drawing/2014/main" id="{832330A3-4ED9-4977-81DD-F06F96F57A26}"/>
                  </a:ext>
                </a:extLst>
              </p:cNvPr>
              <p:cNvSpPr/>
              <p:nvPr/>
            </p:nvSpPr>
            <p:spPr>
              <a:xfrm>
                <a:off x="2567500" y="1835622"/>
                <a:ext cx="1513183" cy="534960"/>
              </a:xfrm>
              <a:prstGeom prst="roundRect">
                <a:avLst>
                  <a:gd name="adj" fmla="val 0"/>
                </a:avLst>
              </a:prstGeom>
              <a:solidFill>
                <a:srgbClr val="5CAEE6"/>
              </a:solidFill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36000" tIns="36000" rIns="36000" bIns="36000"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GB" sz="1000" spc="-1" dirty="0" err="1">
                    <a:latin typeface="Arial"/>
                  </a:rPr>
                  <a:t>Jdbc</a:t>
                </a:r>
                <a:r>
                  <a:rPr lang="en-GB" sz="1000" spc="-1" dirty="0">
                    <a:latin typeface="Arial"/>
                  </a:rPr>
                  <a:t>/script/…</a:t>
                </a:r>
                <a:endParaRPr lang="en-GB" sz="1000" b="0" strike="noStrike" spc="-1" dirty="0">
                  <a:latin typeface="Arial"/>
                </a:endParaRPr>
              </a:p>
            </p:txBody>
          </p:sp>
          <p:pic>
            <p:nvPicPr>
              <p:cNvPr id="21" name="Grafik 9">
                <a:extLst>
                  <a:ext uri="{FF2B5EF4-FFF2-40B4-BE49-F238E27FC236}">
                    <a16:creationId xmlns:a16="http://schemas.microsoft.com/office/drawing/2014/main" id="{789097BB-713C-4B4F-8FF2-DB675034B2E7}"/>
                  </a:ext>
                </a:extLst>
              </p:cNvPr>
              <p:cNvPicPr/>
              <p:nvPr/>
            </p:nvPicPr>
            <p:blipFill>
              <a:blip r:embed="rId3"/>
              <a:stretch/>
            </p:blipFill>
            <p:spPr>
              <a:xfrm>
                <a:off x="3189028" y="2044437"/>
                <a:ext cx="291151" cy="273701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BDB3A5C5-7F93-45AF-B136-7757679A17BE}"/>
                </a:ext>
              </a:extLst>
            </p:cNvPr>
            <p:cNvGrpSpPr/>
            <p:nvPr/>
          </p:nvGrpSpPr>
          <p:grpSpPr>
            <a:xfrm>
              <a:off x="5632554" y="2200315"/>
              <a:ext cx="1335760" cy="611877"/>
              <a:chOff x="2567500" y="1835622"/>
              <a:chExt cx="1513183" cy="534960"/>
            </a:xfrm>
          </p:grpSpPr>
          <p:sp>
            <p:nvSpPr>
              <p:cNvPr id="23" name="CustomShape 4">
                <a:extLst>
                  <a:ext uri="{FF2B5EF4-FFF2-40B4-BE49-F238E27FC236}">
                    <a16:creationId xmlns:a16="http://schemas.microsoft.com/office/drawing/2014/main" id="{1708DA67-E8D4-407D-8464-F9CDED3094E0}"/>
                  </a:ext>
                </a:extLst>
              </p:cNvPr>
              <p:cNvSpPr/>
              <p:nvPr/>
            </p:nvSpPr>
            <p:spPr>
              <a:xfrm>
                <a:off x="2567500" y="1835622"/>
                <a:ext cx="1513183" cy="534960"/>
              </a:xfrm>
              <a:prstGeom prst="roundRect">
                <a:avLst>
                  <a:gd name="adj" fmla="val 0"/>
                </a:avLst>
              </a:prstGeom>
              <a:solidFill>
                <a:srgbClr val="5CAEE6"/>
              </a:solidFill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36000" tIns="36000" rIns="36000" bIns="36000"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GB" sz="1000" b="0" strike="noStrike" spc="-1" dirty="0">
                    <a:latin typeface="Arial"/>
                  </a:rPr>
                  <a:t>Actions (oms/Tonic/…)</a:t>
                </a:r>
              </a:p>
            </p:txBody>
          </p:sp>
          <p:pic>
            <p:nvPicPr>
              <p:cNvPr id="24" name="Grafik 9">
                <a:extLst>
                  <a:ext uri="{FF2B5EF4-FFF2-40B4-BE49-F238E27FC236}">
                    <a16:creationId xmlns:a16="http://schemas.microsoft.com/office/drawing/2014/main" id="{3464EC13-3CBA-43A4-AA0F-6280C917C206}"/>
                  </a:ext>
                </a:extLst>
              </p:cNvPr>
              <p:cNvPicPr/>
              <p:nvPr/>
            </p:nvPicPr>
            <p:blipFill>
              <a:blip r:embed="rId3"/>
              <a:stretch/>
            </p:blipFill>
            <p:spPr>
              <a:xfrm>
                <a:off x="3189028" y="2044437"/>
                <a:ext cx="291151" cy="273701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25" name="Connecteur : en angle 24">
              <a:extLst>
                <a:ext uri="{FF2B5EF4-FFF2-40B4-BE49-F238E27FC236}">
                  <a16:creationId xmlns:a16="http://schemas.microsoft.com/office/drawing/2014/main" id="{77B32005-9037-487E-B4F4-DE492C05A42B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rot="16200000" flipH="1">
              <a:off x="1823963" y="2943752"/>
              <a:ext cx="350295" cy="87175"/>
            </a:xfrm>
            <a:prstGeom prst="bentConnector3">
              <a:avLst/>
            </a:prstGeom>
            <a:ln w="381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 : en angle 26">
              <a:extLst>
                <a:ext uri="{FF2B5EF4-FFF2-40B4-BE49-F238E27FC236}">
                  <a16:creationId xmlns:a16="http://schemas.microsoft.com/office/drawing/2014/main" id="{E03C1DC1-0D7B-4A80-A630-1FA02492F2F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288428" y="2943751"/>
              <a:ext cx="350295" cy="87175"/>
            </a:xfrm>
            <a:prstGeom prst="bentConnector3">
              <a:avLst>
                <a:gd name="adj1" fmla="val 40841"/>
              </a:avLst>
            </a:prstGeom>
            <a:ln w="381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 : en angle 28">
              <a:extLst>
                <a:ext uri="{FF2B5EF4-FFF2-40B4-BE49-F238E27FC236}">
                  <a16:creationId xmlns:a16="http://schemas.microsoft.com/office/drawing/2014/main" id="{4232F0D6-C924-4FDD-8426-825B9A79A63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643750" y="2923085"/>
              <a:ext cx="350295" cy="128506"/>
            </a:xfrm>
            <a:prstGeom prst="bentConnector3">
              <a:avLst/>
            </a:prstGeom>
            <a:ln w="381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 : en angle 30">
              <a:extLst>
                <a:ext uri="{FF2B5EF4-FFF2-40B4-BE49-F238E27FC236}">
                  <a16:creationId xmlns:a16="http://schemas.microsoft.com/office/drawing/2014/main" id="{DF2E6089-03B3-44A0-8AD5-321C0CBE1A5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26039" y="2923085"/>
              <a:ext cx="350295" cy="128506"/>
            </a:xfrm>
            <a:prstGeom prst="bentConnector3">
              <a:avLst/>
            </a:prstGeom>
            <a:ln w="38100">
              <a:solidFill>
                <a:schemeClr val="bg2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 : en angle 32">
              <a:extLst>
                <a:ext uri="{FF2B5EF4-FFF2-40B4-BE49-F238E27FC236}">
                  <a16:creationId xmlns:a16="http://schemas.microsoft.com/office/drawing/2014/main" id="{CEE32106-653C-41AC-A59B-87526E583D47}"/>
                </a:ext>
              </a:extLst>
            </p:cNvPr>
            <p:cNvCxnSpPr>
              <a:stCxn id="23" idx="3"/>
              <a:endCxn id="17" idx="1"/>
            </p:cNvCxnSpPr>
            <p:nvPr/>
          </p:nvCxnSpPr>
          <p:spPr>
            <a:xfrm>
              <a:off x="6968314" y="2506254"/>
              <a:ext cx="579601" cy="186982"/>
            </a:xfrm>
            <a:prstGeom prst="bentConnector3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8">
              <a:extLst>
                <a:ext uri="{FF2B5EF4-FFF2-40B4-BE49-F238E27FC236}">
                  <a16:creationId xmlns:a16="http://schemas.microsoft.com/office/drawing/2014/main" id="{03ED5DE1-1D37-42B3-951C-7BDB6836B1E7}"/>
                </a:ext>
              </a:extLst>
            </p:cNvPr>
            <p:cNvGrpSpPr/>
            <p:nvPr/>
          </p:nvGrpSpPr>
          <p:grpSpPr>
            <a:xfrm>
              <a:off x="9929786" y="3078681"/>
              <a:ext cx="1079280" cy="534960"/>
              <a:chOff x="5268600" y="2869920"/>
              <a:chExt cx="1079280" cy="534960"/>
            </a:xfrm>
          </p:grpSpPr>
          <p:sp>
            <p:nvSpPr>
              <p:cNvPr id="38" name="CustomShape 9">
                <a:extLst>
                  <a:ext uri="{FF2B5EF4-FFF2-40B4-BE49-F238E27FC236}">
                    <a16:creationId xmlns:a16="http://schemas.microsoft.com/office/drawing/2014/main" id="{2D268F12-FDA3-4EFF-B63A-7EFF959A3E81}"/>
                  </a:ext>
                </a:extLst>
              </p:cNvPr>
              <p:cNvSpPr/>
              <p:nvPr/>
            </p:nvSpPr>
            <p:spPr>
              <a:xfrm>
                <a:off x="5268600" y="2869920"/>
                <a:ext cx="1079280" cy="534960"/>
              </a:xfrm>
              <a:prstGeom prst="roundRect">
                <a:avLst>
                  <a:gd name="adj" fmla="val 0"/>
                </a:avLst>
              </a:prstGeom>
              <a:solidFill>
                <a:srgbClr val="E30018"/>
              </a:solidFill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36000" tIns="36000" rIns="36000" bIns="36000"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GB" sz="1000" b="0" strike="noStrike" spc="-1">
                    <a:solidFill>
                      <a:srgbClr val="FFFFFF"/>
                    </a:solidFill>
                    <a:latin typeface="Open Sans"/>
                    <a:ea typeface="Open Sans"/>
                  </a:rPr>
                  <a:t>M/OMS</a:t>
                </a:r>
                <a:endParaRPr lang="en-GB" sz="1000" b="0" strike="noStrike" spc="-1">
                  <a:latin typeface="Arial"/>
                </a:endParaRPr>
              </a:p>
            </p:txBody>
          </p:sp>
          <p:pic>
            <p:nvPicPr>
              <p:cNvPr id="39" name="Grafik 16">
                <a:extLst>
                  <a:ext uri="{FF2B5EF4-FFF2-40B4-BE49-F238E27FC236}">
                    <a16:creationId xmlns:a16="http://schemas.microsoft.com/office/drawing/2014/main" id="{EF8408EA-56B0-4DF4-949A-93676C62E198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>
                <a:off x="5700600" y="3114360"/>
                <a:ext cx="221760" cy="221760"/>
              </a:xfrm>
              <a:prstGeom prst="rect">
                <a:avLst/>
              </a:prstGeom>
              <a:ln w="9360">
                <a:solidFill>
                  <a:schemeClr val="bg1"/>
                </a:solidFill>
                <a:round/>
              </a:ln>
            </p:spPr>
          </p:pic>
        </p:grpSp>
        <p:grpSp>
          <p:nvGrpSpPr>
            <p:cNvPr id="35" name="Group 24">
              <a:extLst>
                <a:ext uri="{FF2B5EF4-FFF2-40B4-BE49-F238E27FC236}">
                  <a16:creationId xmlns:a16="http://schemas.microsoft.com/office/drawing/2014/main" id="{BD3B0600-80A1-4F18-B213-3086152E3BA0}"/>
                </a:ext>
              </a:extLst>
            </p:cNvPr>
            <p:cNvGrpSpPr/>
            <p:nvPr/>
          </p:nvGrpSpPr>
          <p:grpSpPr>
            <a:xfrm>
              <a:off x="9926623" y="1766192"/>
              <a:ext cx="1079280" cy="534960"/>
              <a:chOff x="3696120" y="2180160"/>
              <a:chExt cx="1079280" cy="534960"/>
            </a:xfrm>
          </p:grpSpPr>
          <p:sp>
            <p:nvSpPr>
              <p:cNvPr id="36" name="CustomShape 25">
                <a:extLst>
                  <a:ext uri="{FF2B5EF4-FFF2-40B4-BE49-F238E27FC236}">
                    <a16:creationId xmlns:a16="http://schemas.microsoft.com/office/drawing/2014/main" id="{15720CB5-2FC1-46A9-B700-021C577753BD}"/>
                  </a:ext>
                </a:extLst>
              </p:cNvPr>
              <p:cNvSpPr/>
              <p:nvPr/>
            </p:nvSpPr>
            <p:spPr>
              <a:xfrm>
                <a:off x="3696120" y="2180160"/>
                <a:ext cx="1079280" cy="534960"/>
              </a:xfrm>
              <a:prstGeom prst="roundRect">
                <a:avLst>
                  <a:gd name="adj" fmla="val 0"/>
                </a:avLst>
              </a:prstGeom>
              <a:solidFill>
                <a:srgbClr val="E30018"/>
              </a:solidFill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36000" tIns="36000" rIns="36000" bIns="36000"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GB" sz="1000" b="0" strike="noStrike" spc="-1">
                    <a:solidFill>
                      <a:srgbClr val="FFFFFF"/>
                    </a:solidFill>
                    <a:latin typeface="Open Sans"/>
                    <a:ea typeface="Open Sans"/>
                  </a:rPr>
                  <a:t>M/TEXT TONIC</a:t>
                </a:r>
                <a:endParaRPr lang="en-GB" sz="1000" b="0" strike="noStrike" spc="-1">
                  <a:latin typeface="Arial"/>
                </a:endParaRPr>
              </a:p>
            </p:txBody>
          </p:sp>
          <p:pic>
            <p:nvPicPr>
              <p:cNvPr id="37" name="Grafik 37">
                <a:extLst>
                  <a:ext uri="{FF2B5EF4-FFF2-40B4-BE49-F238E27FC236}">
                    <a16:creationId xmlns:a16="http://schemas.microsoft.com/office/drawing/2014/main" id="{4DC1F256-5C62-4486-8987-218FDFA1C305}"/>
                  </a:ext>
                </a:extLst>
              </p:cNvPr>
              <p:cNvPicPr/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/>
            </p:blipFill>
            <p:spPr>
              <a:xfrm>
                <a:off x="4086000" y="2405880"/>
                <a:ext cx="261000" cy="261720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41" name="Connecteur : en angle 40">
              <a:extLst>
                <a:ext uri="{FF2B5EF4-FFF2-40B4-BE49-F238E27FC236}">
                  <a16:creationId xmlns:a16="http://schemas.microsoft.com/office/drawing/2014/main" id="{C7E9558F-515A-4209-A876-6253D60AD742}"/>
                </a:ext>
              </a:extLst>
            </p:cNvPr>
            <p:cNvCxnSpPr>
              <a:stCxn id="17" idx="3"/>
              <a:endCxn id="36" idx="1"/>
            </p:cNvCxnSpPr>
            <p:nvPr/>
          </p:nvCxnSpPr>
          <p:spPr>
            <a:xfrm flipV="1">
              <a:off x="8883675" y="2033672"/>
              <a:ext cx="1042948" cy="659564"/>
            </a:xfrm>
            <a:prstGeom prst="bentConnector3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 : en angle 42">
              <a:extLst>
                <a:ext uri="{FF2B5EF4-FFF2-40B4-BE49-F238E27FC236}">
                  <a16:creationId xmlns:a16="http://schemas.microsoft.com/office/drawing/2014/main" id="{28167012-9CD1-4CCC-9C4C-EAA6F0ADBFAC}"/>
                </a:ext>
              </a:extLst>
            </p:cNvPr>
            <p:cNvCxnSpPr>
              <a:stCxn id="17" idx="3"/>
              <a:endCxn id="38" idx="1"/>
            </p:cNvCxnSpPr>
            <p:nvPr/>
          </p:nvCxnSpPr>
          <p:spPr>
            <a:xfrm>
              <a:off x="8883675" y="2693236"/>
              <a:ext cx="1046111" cy="652925"/>
            </a:xfrm>
            <a:prstGeom prst="bentConnector3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 : en angle 43">
              <a:extLst>
                <a:ext uri="{FF2B5EF4-FFF2-40B4-BE49-F238E27FC236}">
                  <a16:creationId xmlns:a16="http://schemas.microsoft.com/office/drawing/2014/main" id="{5F217F46-19E8-47E8-850B-76F36D6AE54C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 flipV="1">
              <a:off x="2608377" y="2506255"/>
              <a:ext cx="146401" cy="1580"/>
            </a:xfrm>
            <a:prstGeom prst="bentConnector3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eur : en angle 46">
              <a:extLst>
                <a:ext uri="{FF2B5EF4-FFF2-40B4-BE49-F238E27FC236}">
                  <a16:creationId xmlns:a16="http://schemas.microsoft.com/office/drawing/2014/main" id="{44E72B79-B271-4B24-9D5C-A278C903860A}"/>
                </a:ext>
              </a:extLst>
            </p:cNvPr>
            <p:cNvCxnSpPr>
              <a:cxnSpLocks/>
              <a:stCxn id="14" idx="3"/>
              <a:endCxn id="20" idx="1"/>
            </p:cNvCxnSpPr>
            <p:nvPr/>
          </p:nvCxnSpPr>
          <p:spPr>
            <a:xfrm flipV="1">
              <a:off x="4090538" y="2506254"/>
              <a:ext cx="115453" cy="1"/>
            </a:xfrm>
            <a:prstGeom prst="bentConnector3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 : en angle 49">
              <a:extLst>
                <a:ext uri="{FF2B5EF4-FFF2-40B4-BE49-F238E27FC236}">
                  <a16:creationId xmlns:a16="http://schemas.microsoft.com/office/drawing/2014/main" id="{F7FACC9B-8CA7-4B45-9FDC-B89B94574975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>
              <a:off x="5529408" y="2506254"/>
              <a:ext cx="103146" cy="12700"/>
            </a:xfrm>
            <a:prstGeom prst="bentConnector3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ZoneTexte 52">
            <a:extLst>
              <a:ext uri="{FF2B5EF4-FFF2-40B4-BE49-F238E27FC236}">
                <a16:creationId xmlns:a16="http://schemas.microsoft.com/office/drawing/2014/main" id="{CE9482E3-DFF6-4380-8EE7-FE39E543831F}"/>
              </a:ext>
            </a:extLst>
          </p:cNvPr>
          <p:cNvSpPr txBox="1"/>
          <p:nvPr/>
        </p:nvSpPr>
        <p:spPr>
          <a:xfrm>
            <a:off x="1287642" y="4374147"/>
            <a:ext cx="97182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Configuration :</a:t>
            </a:r>
          </a:p>
          <a:p>
            <a:pPr marL="285750" indent="-285750">
              <a:buFontTx/>
              <a:buChar char="-"/>
            </a:pPr>
            <a:r>
              <a:rPr lang="en-US" dirty="0"/>
              <a:t>Description files : analyses input data, StreamServe syntax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Properties files : KW connection, Document settings (</a:t>
            </a:r>
            <a:r>
              <a:rPr lang="en-US" dirty="0" err="1"/>
              <a:t>ie</a:t>
            </a:r>
            <a:r>
              <a:rPr lang="en-US" dirty="0"/>
              <a:t>: template, </a:t>
            </a:r>
            <a:r>
              <a:rPr lang="en-US" dirty="0" err="1"/>
              <a:t>datasources</a:t>
            </a:r>
            <a:r>
              <a:rPr lang="en-US" dirty="0"/>
              <a:t>,…)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 be synchronized from </a:t>
            </a:r>
            <a:r>
              <a:rPr lang="en-US" dirty="0" err="1"/>
              <a:t>SerieM</a:t>
            </a:r>
            <a:r>
              <a:rPr lang="en-US" dirty="0"/>
              <a:t> server periodically, supports hot changes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3388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idx="4294967295"/>
          </p:nvPr>
        </p:nvSpPr>
        <p:spPr>
          <a:xfrm>
            <a:off x="1149351" y="802881"/>
            <a:ext cx="11042649" cy="49853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933" dirty="0"/>
              <a:t>Field In example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3F73778-9557-46FA-85A3-AB6D97CF07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146"/>
          <a:stretch/>
        </p:blipFill>
        <p:spPr>
          <a:xfrm>
            <a:off x="729923" y="1273350"/>
            <a:ext cx="3508864" cy="533917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9732910-4731-41BC-8309-B5E17ADF9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89785"/>
            <a:ext cx="3418721" cy="255315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4366C8A-128D-419A-A66A-A33899CF7169}"/>
              </a:ext>
            </a:extLst>
          </p:cNvPr>
          <p:cNvSpPr txBox="1"/>
          <p:nvPr/>
        </p:nvSpPr>
        <p:spPr>
          <a:xfrm>
            <a:off x="5997187" y="867482"/>
            <a:ext cx="334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Corresponding description file :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6446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idx="4294967295"/>
          </p:nvPr>
        </p:nvSpPr>
        <p:spPr>
          <a:xfrm>
            <a:off x="1149351" y="802881"/>
            <a:ext cx="11042649" cy="49853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933" dirty="0"/>
              <a:t>RDI example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62BD26D-C9C7-40D3-9485-06D7F456F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5214"/>
            <a:ext cx="12192000" cy="150917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F5812EC-27D5-42FF-AFFC-C1948B503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64084"/>
            <a:ext cx="4610911" cy="291739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6B380E2-244B-4284-A9C3-F9F5D9F78CAE}"/>
              </a:ext>
            </a:extLst>
          </p:cNvPr>
          <p:cNvSpPr txBox="1"/>
          <p:nvPr/>
        </p:nvSpPr>
        <p:spPr>
          <a:xfrm>
            <a:off x="162127" y="3184348"/>
            <a:ext cx="2957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XML result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7921B60-C861-43D1-A68E-9F0677A19C61}"/>
              </a:ext>
            </a:extLst>
          </p:cNvPr>
          <p:cNvSpPr txBox="1"/>
          <p:nvPr/>
        </p:nvSpPr>
        <p:spPr>
          <a:xfrm>
            <a:off x="4973937" y="3893615"/>
            <a:ext cx="6919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Document settings </a:t>
            </a:r>
          </a:p>
          <a:p>
            <a:r>
              <a:rPr lang="en-US" dirty="0"/>
              <a:t>(here, just oms print, indicates some metadata and oms parameters)</a:t>
            </a:r>
            <a:endParaRPr lang="fr-FR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8D9D1D66-0A0F-49E8-81E6-0D8C6C1189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245" y="4605820"/>
            <a:ext cx="6135188" cy="125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04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idx="4294967295"/>
          </p:nvPr>
        </p:nvSpPr>
        <p:spPr>
          <a:xfrm>
            <a:off x="747275" y="774816"/>
            <a:ext cx="11042649" cy="49853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933" dirty="0"/>
              <a:t>PDF or OTF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07B0644-0CC2-4980-82FE-01E715CBB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75" y="1273350"/>
            <a:ext cx="9330712" cy="229729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ADB52D1-6219-4BD8-B1BA-23AC1513B9EA}"/>
              </a:ext>
            </a:extLst>
          </p:cNvPr>
          <p:cNvSpPr txBox="1"/>
          <p:nvPr/>
        </p:nvSpPr>
        <p:spPr>
          <a:xfrm>
            <a:off x="737174" y="3553325"/>
            <a:ext cx="49012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Pages are “typed” : FIRST/NEXT</a:t>
            </a:r>
          </a:p>
          <a:p>
            <a:r>
              <a:rPr lang="en-US" dirty="0"/>
              <a:t>Page FIRST identified -&gt; NEW document</a:t>
            </a:r>
          </a:p>
          <a:p>
            <a:r>
              <a:rPr lang="en-US" i="1" dirty="0"/>
              <a:t>Patterns</a:t>
            </a:r>
            <a:r>
              <a:rPr lang="en-US" dirty="0"/>
              <a:t> are used in </a:t>
            </a:r>
            <a:r>
              <a:rPr lang="en-US" i="1" dirty="0"/>
              <a:t>Rules</a:t>
            </a:r>
            <a:r>
              <a:rPr lang="en-US" dirty="0"/>
              <a:t> to identify pages</a:t>
            </a:r>
          </a:p>
          <a:p>
            <a:endParaRPr lang="en-US" dirty="0"/>
          </a:p>
          <a:p>
            <a:r>
              <a:rPr lang="en-US" dirty="0"/>
              <a:t>Fields have </a:t>
            </a:r>
            <a:r>
              <a:rPr lang="en-US" i="1" dirty="0"/>
              <a:t>name</a:t>
            </a:r>
            <a:r>
              <a:rPr lang="en-US" dirty="0"/>
              <a:t>, </a:t>
            </a:r>
            <a:r>
              <a:rPr lang="en-US" i="1" dirty="0"/>
              <a:t>position</a:t>
            </a:r>
            <a:r>
              <a:rPr lang="en-US" dirty="0"/>
              <a:t>, </a:t>
            </a:r>
            <a:r>
              <a:rPr lang="en-US" i="1" dirty="0"/>
              <a:t>size</a:t>
            </a:r>
            <a:r>
              <a:rPr lang="en-US" dirty="0"/>
              <a:t>. Depending on attribute “</a:t>
            </a:r>
            <a:r>
              <a:rPr lang="en-US" i="1" dirty="0"/>
              <a:t>options</a:t>
            </a:r>
            <a:r>
              <a:rPr lang="en-US" dirty="0"/>
              <a:t>”, OTF also supports moving or removing the field. </a:t>
            </a:r>
          </a:p>
          <a:p>
            <a:r>
              <a:rPr lang="en-US" dirty="0"/>
              <a:t>Field value can be calculated by </a:t>
            </a:r>
            <a:r>
              <a:rPr lang="en-US" dirty="0" err="1"/>
              <a:t>javascript</a:t>
            </a:r>
            <a:r>
              <a:rPr lang="en-US" dirty="0"/>
              <a:t>.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B3C7040-3474-4C97-87C8-98036DF8D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601" y="3933378"/>
            <a:ext cx="5069118" cy="222497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F3601A9-7856-4C71-BA6A-72887A5FBF38}"/>
              </a:ext>
            </a:extLst>
          </p:cNvPr>
          <p:cNvSpPr txBox="1"/>
          <p:nvPr/>
        </p:nvSpPr>
        <p:spPr>
          <a:xfrm>
            <a:off x="6018179" y="3570643"/>
            <a:ext cx="5824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Freemarker</a:t>
            </a:r>
            <a:r>
              <a:rPr lang="en-US" dirty="0"/>
              <a:t> template is used to create the OMS Control File :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3316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933" dirty="0"/>
              <a:t>Main Settings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E96CB42-6DBF-4B1B-B7A8-2677616CF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4815177" cy="4242318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highlight>
                  <a:srgbClr val="FFFF00"/>
                </a:highlight>
                <a:latin typeface="Consolas" panose="020B0609020204030204" pitchFamily="49" charset="0"/>
              </a:rPr>
              <a:t>//GENERIC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PARENT</a:t>
            </a:r>
            <a:r>
              <a:rPr lang="fr-FR" sz="2800" dirty="0">
                <a:latin typeface="Consolas" panose="020B0609020204030204" pitchFamily="49" charset="0"/>
              </a:rPr>
              <a:t>=</a:t>
            </a:r>
            <a:r>
              <a:rPr lang="fr-FR" sz="2800" dirty="0" err="1">
                <a:latin typeface="Consolas" panose="020B0609020204030204" pitchFamily="49" charset="0"/>
              </a:rPr>
              <a:t>parentSettings.properties</a:t>
            </a:r>
            <a:endParaRPr lang="fr-FR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KW_SERVER</a:t>
            </a:r>
            <a:r>
              <a:rPr lang="fr-FR" sz="2800" dirty="0">
                <a:latin typeface="Consolas" panose="020B0609020204030204" pitchFamily="49" charset="0"/>
              </a:rPr>
              <a:t>=</a:t>
            </a:r>
            <a:r>
              <a:rPr lang="fr-FR" sz="2800" dirty="0" err="1">
                <a:latin typeface="Consolas" panose="020B0609020204030204" pitchFamily="49" charset="0"/>
              </a:rPr>
              <a:t>serieMAddress</a:t>
            </a:r>
            <a:endParaRPr lang="fr-FR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KW_SERVER_PORT</a:t>
            </a:r>
            <a:r>
              <a:rPr lang="fr-FR" sz="2800" dirty="0">
                <a:latin typeface="Consolas" panose="020B0609020204030204" pitchFamily="49" charset="0"/>
              </a:rPr>
              <a:t>=443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SSL_ENABLED</a:t>
            </a:r>
            <a:r>
              <a:rPr lang="fr-FR" sz="2800" dirty="0">
                <a:latin typeface="Consolas" panose="020B0609020204030204" pitchFamily="49" charset="0"/>
              </a:rPr>
              <a:t>=</a:t>
            </a:r>
            <a:r>
              <a:rPr lang="fr-FR" sz="2800" dirty="0" err="1">
                <a:latin typeface="Consolas" panose="020B0609020204030204" pitchFamily="49" charset="0"/>
              </a:rPr>
              <a:t>true</a:t>
            </a:r>
            <a:endParaRPr lang="fr-FR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KW_USER</a:t>
            </a:r>
            <a:r>
              <a:rPr lang="fr-FR" sz="2800" dirty="0">
                <a:latin typeface="Consolas" panose="020B0609020204030204" pitchFamily="49" charset="0"/>
              </a:rPr>
              <a:t>=</a:t>
            </a:r>
            <a:r>
              <a:rPr lang="fr-FR" sz="2800" dirty="0" err="1">
                <a:latin typeface="Consolas" panose="020B0609020204030204" pitchFamily="49" charset="0"/>
              </a:rPr>
              <a:t>mtext</a:t>
            </a:r>
            <a:endParaRPr lang="fr-FR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KW_PASSWORD_PLAIN</a:t>
            </a:r>
            <a:r>
              <a:rPr lang="fr-FR" sz="2800" dirty="0">
                <a:latin typeface="Consolas" panose="020B0609020204030204" pitchFamily="49" charset="0"/>
              </a:rPr>
              <a:t>=</a:t>
            </a:r>
            <a:r>
              <a:rPr lang="fr-FR" sz="2800" u="sng" dirty="0" err="1">
                <a:latin typeface="Consolas" panose="020B0609020204030204" pitchFamily="49" charset="0"/>
              </a:rPr>
              <a:t>mtext</a:t>
            </a:r>
            <a:endParaRPr lang="fr-FR" sz="2800" u="sng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KW_PASSWORD_CRYPTED</a:t>
            </a:r>
            <a:r>
              <a:rPr lang="fr-FR" sz="2800" dirty="0">
                <a:latin typeface="Consolas" panose="020B0609020204030204" pitchFamily="49" charset="0"/>
              </a:rPr>
              <a:t>=5B7A492A0050DA42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KW_SYNCHRO_SETTINGS_PROJECT</a:t>
            </a:r>
            <a:r>
              <a:rPr lang="fr-FR" sz="2800" dirty="0">
                <a:latin typeface="Consolas" panose="020B0609020204030204" pitchFamily="49" charset="0"/>
              </a:rPr>
              <a:t>=</a:t>
            </a:r>
            <a:r>
              <a:rPr lang="fr-FR" sz="2800" dirty="0" err="1">
                <a:latin typeface="Consolas" panose="020B0609020204030204" pitchFamily="49" charset="0"/>
              </a:rPr>
              <a:t>AdapterSettingsProjec</a:t>
            </a:r>
            <a:endParaRPr lang="fr-FR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KW_SYNCHRO_SETTINGS_SCHEDULE</a:t>
            </a:r>
            <a:r>
              <a:rPr lang="en-US" sz="2800" dirty="0">
                <a:latin typeface="Consolas" panose="020B0609020204030204" pitchFamily="49" charset="0"/>
              </a:rPr>
              <a:t>=10mn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FILE_THREADS</a:t>
            </a:r>
            <a:r>
              <a:rPr lang="fr-FR" sz="2800" dirty="0">
                <a:latin typeface="Consolas" panose="020B0609020204030204" pitchFamily="49" charset="0"/>
              </a:rPr>
              <a:t>=4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DOCUMENT_THREADS</a:t>
            </a:r>
            <a:r>
              <a:rPr lang="fr-FR" sz="2800" dirty="0">
                <a:latin typeface="Consolas" panose="020B0609020204030204" pitchFamily="49" charset="0"/>
              </a:rPr>
              <a:t>=8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//SCAN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ENCODING</a:t>
            </a:r>
            <a:r>
              <a:rPr lang="fr-FR" sz="2800" dirty="0">
                <a:latin typeface="Consolas" panose="020B0609020204030204" pitchFamily="49" charset="0"/>
              </a:rPr>
              <a:t>=UTF-8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PARSERS</a:t>
            </a:r>
            <a:r>
              <a:rPr lang="fr-FR" sz="2800" dirty="0">
                <a:latin typeface="Consolas" panose="020B0609020204030204" pitchFamily="49" charset="0"/>
              </a:rPr>
              <a:t>=</a:t>
            </a:r>
            <a:r>
              <a:rPr lang="fr-FR" sz="2800" dirty="0" err="1">
                <a:latin typeface="Consolas" panose="020B0609020204030204" pitchFamily="49" charset="0"/>
              </a:rPr>
              <a:t>dsc</a:t>
            </a:r>
            <a:r>
              <a:rPr lang="fr-FR" sz="2800" dirty="0">
                <a:latin typeface="Consolas" panose="020B0609020204030204" pitchFamily="49" charset="0"/>
              </a:rPr>
              <a:t>/r3rdi.dsc;dsc/</a:t>
            </a:r>
            <a:r>
              <a:rPr lang="fr-FR" sz="2800" dirty="0" err="1">
                <a:latin typeface="Consolas" panose="020B0609020204030204" pitchFamily="49" charset="0"/>
              </a:rPr>
              <a:t>fieldIn.dsc;etc</a:t>
            </a:r>
            <a:r>
              <a:rPr lang="fr-FR" sz="2800" dirty="0">
                <a:latin typeface="Consolas" panose="020B0609020204030204" pitchFamily="49" charset="0"/>
              </a:rPr>
              <a:t>…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FOLDER</a:t>
            </a:r>
            <a:r>
              <a:rPr lang="fr-FR" sz="2800" dirty="0">
                <a:latin typeface="Consolas" panose="020B0609020204030204" pitchFamily="49" charset="0"/>
              </a:rPr>
              <a:t>=</a:t>
            </a:r>
            <a:r>
              <a:rPr lang="fr-FR" sz="2800" u="sng" dirty="0">
                <a:latin typeface="Consolas" panose="020B0609020204030204" pitchFamily="49" charset="0"/>
              </a:rPr>
              <a:t>./</a:t>
            </a:r>
            <a:r>
              <a:rPr lang="fr-FR" sz="2800" u="sng" dirty="0" err="1">
                <a:latin typeface="Consolas" panose="020B0609020204030204" pitchFamily="49" charset="0"/>
              </a:rPr>
              <a:t>scanTest</a:t>
            </a:r>
            <a:endParaRPr lang="fr-FR" sz="2800" u="sng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FILTER</a:t>
            </a:r>
            <a:r>
              <a:rPr lang="fr-FR" sz="2800" dirty="0">
                <a:latin typeface="Consolas" panose="020B0609020204030204" pitchFamily="49" charset="0"/>
              </a:rPr>
              <a:t>=*.*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SCHEDULE</a:t>
            </a:r>
            <a:r>
              <a:rPr lang="fr-FR" sz="2800" dirty="0">
                <a:latin typeface="Consolas" panose="020B0609020204030204" pitchFamily="49" charset="0"/>
              </a:rPr>
              <a:t>=1s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DELETE_FILES</a:t>
            </a:r>
            <a:r>
              <a:rPr lang="fr-FR" sz="2800" dirty="0">
                <a:latin typeface="Consolas" panose="020B0609020204030204" pitchFamily="49" charset="0"/>
              </a:rPr>
              <a:t>=</a:t>
            </a:r>
            <a:r>
              <a:rPr lang="fr-FR" sz="2800" dirty="0" err="1">
                <a:latin typeface="Consolas" panose="020B0609020204030204" pitchFamily="49" charset="0"/>
              </a:rPr>
              <a:t>true</a:t>
            </a:r>
            <a:endParaRPr lang="fr-FR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solidFill>
                  <a:schemeClr val="accent1"/>
                </a:solidFill>
                <a:latin typeface="Consolas" panose="020B0609020204030204" pitchFamily="49" charset="0"/>
              </a:rPr>
              <a:t>PARSE_ONLY</a:t>
            </a:r>
            <a:r>
              <a:rPr lang="fr-FR" sz="2800" dirty="0">
                <a:latin typeface="Consolas" panose="020B0609020204030204" pitchFamily="49" charset="0"/>
              </a:rPr>
              <a:t>=</a:t>
            </a:r>
            <a:r>
              <a:rPr lang="fr-FR" sz="2800" dirty="0" err="1">
                <a:latin typeface="Consolas" panose="020B0609020204030204" pitchFamily="49" charset="0"/>
              </a:rPr>
              <a:t>true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E3CD91-133C-4E12-85A4-80B9B5BD3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8421" y="1825626"/>
            <a:ext cx="6181558" cy="2655390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800" dirty="0">
                <a:highlight>
                  <a:srgbClr val="FFFF00"/>
                </a:highlight>
                <a:latin typeface="Consolas" panose="020B0609020204030204" pitchFamily="49" charset="0"/>
              </a:rPr>
              <a:t>//DOCUMENTS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de-DE" sz="2800" dirty="0">
                <a:latin typeface="Consolas" panose="020B0609020204030204" pitchFamily="49" charset="0"/>
              </a:rPr>
              <a:t>&lt;</a:t>
            </a:r>
            <a:r>
              <a:rPr lang="de-DE" sz="2800" dirty="0" err="1">
                <a:latin typeface="Consolas" panose="020B0609020204030204" pitchFamily="49" charset="0"/>
              </a:rPr>
              <a:t>docName</a:t>
            </a:r>
            <a:r>
              <a:rPr lang="de-DE" sz="2800" dirty="0">
                <a:latin typeface="Consolas" panose="020B0609020204030204" pitchFamily="49" charset="0"/>
              </a:rPr>
              <a:t>&gt;</a:t>
            </a:r>
            <a:r>
              <a:rPr lang="de-DE" sz="2800" dirty="0">
                <a:solidFill>
                  <a:schemeClr val="accent1"/>
                </a:solidFill>
                <a:latin typeface="Consolas" panose="020B0609020204030204" pitchFamily="49" charset="0"/>
              </a:rPr>
              <a:t>_TEMPLATE</a:t>
            </a:r>
            <a:r>
              <a:rPr lang="de-DE" sz="2800" dirty="0">
                <a:latin typeface="Consolas" panose="020B0609020204030204" pitchFamily="49" charset="0"/>
              </a:rPr>
              <a:t>=/</a:t>
            </a:r>
            <a:r>
              <a:rPr lang="de-DE" sz="2800" dirty="0" err="1">
                <a:latin typeface="Consolas" panose="020B0609020204030204" pitchFamily="49" charset="0"/>
              </a:rPr>
              <a:t>bsp_Anschreiben</a:t>
            </a:r>
            <a:r>
              <a:rPr lang="de-DE" sz="2800" dirty="0">
                <a:latin typeface="Consolas" panose="020B0609020204030204" pitchFamily="49" charset="0"/>
              </a:rPr>
              <a:t>/</a:t>
            </a:r>
            <a:r>
              <a:rPr lang="de-DE" sz="2800" u="sng" dirty="0">
                <a:latin typeface="Consolas" panose="020B0609020204030204" pitchFamily="49" charset="0"/>
              </a:rPr>
              <a:t>Vorlagen/</a:t>
            </a:r>
            <a:r>
              <a:rPr lang="de-DE" sz="2800" u="sng" dirty="0" err="1">
                <a:latin typeface="Consolas" panose="020B0609020204030204" pitchFamily="49" charset="0"/>
              </a:rPr>
              <a:t>Willkommen.template</a:t>
            </a:r>
            <a:endParaRPr lang="de-DE" sz="2800" u="sng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de-DE" sz="2800" u="sng" dirty="0">
                <a:latin typeface="Consolas" panose="020B0609020204030204" pitchFamily="49" charset="0"/>
              </a:rPr>
              <a:t>&lt;</a:t>
            </a:r>
            <a:r>
              <a:rPr lang="de-DE" sz="2800" u="sng" dirty="0" err="1">
                <a:latin typeface="Consolas" panose="020B0609020204030204" pitchFamily="49" charset="0"/>
              </a:rPr>
              <a:t>docName</a:t>
            </a:r>
            <a:r>
              <a:rPr lang="de-DE" sz="2800" u="sng" dirty="0">
                <a:latin typeface="Consolas" panose="020B0609020204030204" pitchFamily="49" charset="0"/>
              </a:rPr>
              <a:t>&gt;</a:t>
            </a:r>
            <a:r>
              <a:rPr lang="en-US" sz="2800" dirty="0">
                <a:latin typeface="Consolas" panose="020B0609020204030204" pitchFamily="49" charset="0"/>
              </a:rPr>
              <a:t>_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XML_SPLITTER</a:t>
            </a:r>
            <a:r>
              <a:rPr lang="en-US" sz="2800" dirty="0">
                <a:latin typeface="Consolas" panose="020B0609020204030204" pitchFamily="49" charset="0"/>
              </a:rPr>
              <a:t>=//Configuration/</a:t>
            </a:r>
            <a:r>
              <a:rPr lang="en-US" sz="2800" dirty="0" err="1">
                <a:latin typeface="Consolas" panose="020B0609020204030204" pitchFamily="49" charset="0"/>
              </a:rPr>
              <a:t>Batch.splitting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</a:rPr>
              <a:t>&lt;</a:t>
            </a:r>
            <a:r>
              <a:rPr lang="en-US" sz="2800" dirty="0" err="1">
                <a:latin typeface="Consolas" panose="020B0609020204030204" pitchFamily="49" charset="0"/>
              </a:rPr>
              <a:t>docName</a:t>
            </a:r>
            <a:r>
              <a:rPr lang="en-US" sz="2800" dirty="0">
                <a:latin typeface="Consolas" panose="020B0609020204030204" pitchFamily="49" charset="0"/>
              </a:rPr>
              <a:t>&gt;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_DATASOURCE</a:t>
            </a:r>
            <a:r>
              <a:rPr lang="en-US" sz="2800" dirty="0">
                <a:latin typeface="Consolas" panose="020B0609020204030204" pitchFamily="49" charset="0"/>
              </a:rPr>
              <a:t>=Brief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</a:rPr>
              <a:t>&lt;</a:t>
            </a:r>
            <a:r>
              <a:rPr lang="en-US" sz="2800" dirty="0" err="1">
                <a:latin typeface="Consolas" panose="020B0609020204030204" pitchFamily="49" charset="0"/>
              </a:rPr>
              <a:t>docName</a:t>
            </a:r>
            <a:r>
              <a:rPr lang="en-US" sz="2800" dirty="0">
                <a:latin typeface="Consolas" panose="020B0609020204030204" pitchFamily="49" charset="0"/>
              </a:rPr>
              <a:t>&gt;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_PRINTER</a:t>
            </a:r>
            <a:r>
              <a:rPr lang="en-US" sz="2800" dirty="0">
                <a:latin typeface="Consolas" panose="020B0609020204030204" pitchFamily="49" charset="0"/>
              </a:rPr>
              <a:t>=OMS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docName</a:t>
            </a:r>
            <a:r>
              <a:rPr lang="en-US" dirty="0"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_TONIC_PATH</a:t>
            </a:r>
            <a:r>
              <a:rPr lang="en-US" dirty="0">
                <a:latin typeface="Consolas" panose="020B0609020204030204" pitchFamily="49" charset="0"/>
              </a:rPr>
              <a:t>=Brief/${</a:t>
            </a:r>
            <a:r>
              <a:rPr lang="en-US" dirty="0" err="1">
                <a:latin typeface="Consolas" panose="020B0609020204030204" pitchFamily="49" charset="0"/>
              </a:rPr>
              <a:t>docId</a:t>
            </a:r>
            <a:r>
              <a:rPr lang="en-US" dirty="0">
                <a:latin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/>
              <a:t>&lt;</a:t>
            </a:r>
            <a:r>
              <a:rPr lang="fr-FR" dirty="0" err="1"/>
              <a:t>docName</a:t>
            </a:r>
            <a:r>
              <a:rPr lang="fr-FR" dirty="0"/>
              <a:t>&gt;</a:t>
            </a:r>
            <a:r>
              <a:rPr lang="fr-FR" dirty="0">
                <a:solidFill>
                  <a:schemeClr val="accent1"/>
                </a:solidFill>
              </a:rPr>
              <a:t>_RESPONSE_PATH</a:t>
            </a:r>
            <a:r>
              <a:rPr lang="fr-FR" dirty="0"/>
              <a:t>=</a:t>
            </a:r>
            <a:r>
              <a:rPr lang="fr-FR" dirty="0" err="1"/>
              <a:t>response</a:t>
            </a:r>
            <a:r>
              <a:rPr lang="fr-FR" dirty="0"/>
              <a:t>/${docId}.pdf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/>
              <a:t>&lt;</a:t>
            </a:r>
            <a:r>
              <a:rPr lang="fr-FR" dirty="0" err="1"/>
              <a:t>docName</a:t>
            </a:r>
            <a:r>
              <a:rPr lang="fr-FR" dirty="0"/>
              <a:t>&gt;</a:t>
            </a:r>
            <a:r>
              <a:rPr lang="fr-FR" dirty="0">
                <a:solidFill>
                  <a:schemeClr val="accent1"/>
                </a:solidFill>
              </a:rPr>
              <a:t>_ADDITIONAL_FILES</a:t>
            </a:r>
            <a:r>
              <a:rPr lang="fr-FR" dirty="0"/>
              <a:t>=</a:t>
            </a:r>
            <a:r>
              <a:rPr lang="fr-FR" dirty="0" err="1"/>
              <a:t>routing</a:t>
            </a:r>
            <a:r>
              <a:rPr lang="fr-FR" dirty="0"/>
              <a:t>/${</a:t>
            </a:r>
            <a:r>
              <a:rPr lang="fr-FR" dirty="0" err="1"/>
              <a:t>origin</a:t>
            </a:r>
            <a:r>
              <a:rPr lang="fr-FR" dirty="0"/>
              <a:t>}.route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/>
              <a:t>&lt;</a:t>
            </a:r>
            <a:r>
              <a:rPr lang="fr-FR" dirty="0" err="1"/>
              <a:t>docName</a:t>
            </a:r>
            <a:r>
              <a:rPr lang="fr-FR" dirty="0"/>
              <a:t>&gt;</a:t>
            </a:r>
            <a:r>
              <a:rPr lang="fr-FR" dirty="0">
                <a:solidFill>
                  <a:schemeClr val="accent1"/>
                </a:solidFill>
              </a:rPr>
              <a:t>_ADDITIONAL_DATASOURCES</a:t>
            </a:r>
            <a:r>
              <a:rPr lang="fr-FR" dirty="0"/>
              <a:t>=</a:t>
            </a:r>
            <a:r>
              <a:rPr lang="fr-FR" dirty="0" err="1"/>
              <a:t>ROUTING;jdbcData:JDBC</a:t>
            </a:r>
            <a:r>
              <a:rPr lang="fr-FR" dirty="0"/>
              <a:t>(jdbcSettings.xml)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/>
              <a:t>&lt;</a:t>
            </a:r>
            <a:r>
              <a:rPr lang="fr-FR" dirty="0" err="1"/>
              <a:t>docName</a:t>
            </a:r>
            <a:r>
              <a:rPr lang="fr-FR" dirty="0"/>
              <a:t>&gt;</a:t>
            </a:r>
            <a:r>
              <a:rPr lang="fr-FR" dirty="0">
                <a:solidFill>
                  <a:schemeClr val="accent1"/>
                </a:solidFill>
              </a:rPr>
              <a:t>_FILTER</a:t>
            </a:r>
            <a:r>
              <a:rPr lang="fr-FR" dirty="0"/>
              <a:t>=</a:t>
            </a:r>
            <a:r>
              <a:rPr lang="fr-FR" dirty="0" err="1"/>
              <a:t>xsl</a:t>
            </a:r>
            <a:r>
              <a:rPr lang="fr-FR" dirty="0"/>
              <a:t>/transform.xsl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/>
              <a:t>&lt;</a:t>
            </a:r>
            <a:r>
              <a:rPr lang="fr-FR" dirty="0" err="1"/>
              <a:t>docName</a:t>
            </a:r>
            <a:r>
              <a:rPr lang="fr-FR" dirty="0"/>
              <a:t>&gt;</a:t>
            </a:r>
            <a:r>
              <a:rPr lang="fr-FR" dirty="0">
                <a:solidFill>
                  <a:schemeClr val="accent1"/>
                </a:solidFill>
              </a:rPr>
              <a:t>_METADATA</a:t>
            </a:r>
            <a:r>
              <a:rPr lang="fr-FR" dirty="0"/>
              <a:t>=</a:t>
            </a:r>
            <a:r>
              <a:rPr lang="fr-FR" dirty="0" err="1"/>
              <a:t>JobId</a:t>
            </a:r>
            <a:r>
              <a:rPr lang="fr-FR" dirty="0"/>
              <a:t>:${</a:t>
            </a:r>
            <a:r>
              <a:rPr lang="fr-FR" dirty="0" err="1"/>
              <a:t>jobId</a:t>
            </a:r>
            <a:r>
              <a:rPr lang="fr-FR" dirty="0"/>
              <a:t>};</a:t>
            </a:r>
            <a:r>
              <a:rPr lang="fr-FR" dirty="0" err="1"/>
              <a:t>InputFile</a:t>
            </a:r>
            <a:r>
              <a:rPr lang="fr-FR" dirty="0"/>
              <a:t>:${</a:t>
            </a:r>
            <a:r>
              <a:rPr lang="fr-FR" dirty="0" err="1"/>
              <a:t>origin</a:t>
            </a:r>
            <a:r>
              <a:rPr lang="fr-FR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/>
              <a:t>&lt;</a:t>
            </a:r>
            <a:r>
              <a:rPr lang="fr-FR" dirty="0" err="1"/>
              <a:t>docName</a:t>
            </a:r>
            <a:r>
              <a:rPr lang="fr-FR" dirty="0"/>
              <a:t>&gt;</a:t>
            </a:r>
            <a:r>
              <a:rPr lang="fr-FR" dirty="0">
                <a:solidFill>
                  <a:schemeClr val="accent1"/>
                </a:solidFill>
              </a:rPr>
              <a:t>_UPDATE_OMS_PARAMETERS</a:t>
            </a:r>
            <a:r>
              <a:rPr lang="fr-FR" dirty="0"/>
              <a:t>=MY_STATUS:READY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44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53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933" dirty="0"/>
              <a:t>Context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D8763100-3FA0-4E8D-A681-FBE5D09ED673}"/>
              </a:ext>
            </a:extLst>
          </p:cNvPr>
          <p:cNvSpPr txBox="1"/>
          <p:nvPr/>
        </p:nvSpPr>
        <p:spPr>
          <a:xfrm>
            <a:off x="788140" y="1104737"/>
            <a:ext cx="107655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of settings are parsed using </a:t>
            </a:r>
            <a:r>
              <a:rPr lang="en-US" dirty="0" err="1"/>
              <a:t>freemarker</a:t>
            </a:r>
            <a:r>
              <a:rPr lang="en-US" dirty="0"/>
              <a:t> syntax (</a:t>
            </a:r>
            <a:r>
              <a:rPr lang="en-US" dirty="0">
                <a:hlinkClick r:id="rId3"/>
              </a:rPr>
              <a:t>https://freemarker.apache.org/</a:t>
            </a:r>
            <a:r>
              <a:rPr lang="fr-FR" dirty="0"/>
              <a:t>) : ${variable}</a:t>
            </a:r>
          </a:p>
          <a:p>
            <a:r>
              <a:rPr lang="fr-FR" dirty="0"/>
              <a:t>For </a:t>
            </a:r>
            <a:r>
              <a:rPr lang="fr-FR" dirty="0" err="1"/>
              <a:t>each</a:t>
            </a:r>
            <a:r>
              <a:rPr lang="fr-FR" dirty="0"/>
              <a:t> document, the </a:t>
            </a:r>
            <a:r>
              <a:rPr lang="fr-FR" dirty="0" err="1"/>
              <a:t>context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following</a:t>
            </a:r>
            <a:r>
              <a:rPr lang="fr-FR" dirty="0"/>
              <a:t>:</a:t>
            </a:r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6B018F25-149A-4FF9-B36C-A7BE60CDF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425369"/>
              </p:ext>
            </p:extLst>
          </p:nvPr>
        </p:nvGraphicFramePr>
        <p:xfrm>
          <a:off x="838200" y="1826709"/>
          <a:ext cx="8128000" cy="459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093574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66771729"/>
                    </a:ext>
                  </a:extLst>
                </a:gridCol>
              </a:tblGrid>
              <a:tr h="337922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069029"/>
                  </a:ext>
                </a:extLst>
              </a:tr>
              <a:tr h="583263"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b="1" dirty="0" err="1"/>
                        <a:t>datasourceName</a:t>
                      </a:r>
                      <a:r>
                        <a:rPr lang="en-US" dirty="0"/>
                        <a:t>&gt;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XML content (see </a:t>
                      </a:r>
                      <a:r>
                        <a:rPr lang="en-US" dirty="0" err="1"/>
                        <a:t>Freemarker</a:t>
                      </a:r>
                      <a:r>
                        <a:rPr lang="en-US" dirty="0"/>
                        <a:t> documentation for XML data models)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198183"/>
                  </a:ext>
                </a:extLst>
              </a:tr>
              <a:tr h="3379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Origin (or </a:t>
                      </a:r>
                      <a:r>
                        <a:rPr lang="en-US" dirty="0" err="1"/>
                        <a:t>originFileName</a:t>
                      </a:r>
                      <a:r>
                        <a:rPr lang="en-US" dirty="0"/>
                        <a:t> or </a:t>
                      </a:r>
                      <a:r>
                        <a:rPr lang="en-US" dirty="0" err="1"/>
                        <a:t>jobId</a:t>
                      </a:r>
                      <a:r>
                        <a:rPr lang="fr-F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input file name (ex : invoice.xml)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91450"/>
                  </a:ext>
                </a:extLst>
              </a:tr>
              <a:tr h="337922">
                <a:tc>
                  <a:txBody>
                    <a:bodyPr/>
                    <a:lstStyle/>
                    <a:p>
                      <a:r>
                        <a:rPr lang="en-US" dirty="0" err="1"/>
                        <a:t>originBaseName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Ex: invoice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743962"/>
                  </a:ext>
                </a:extLst>
              </a:tr>
              <a:tr h="337922">
                <a:tc>
                  <a:txBody>
                    <a:bodyPr/>
                    <a:lstStyle/>
                    <a:p>
                      <a:r>
                        <a:rPr lang="en-US" dirty="0" err="1"/>
                        <a:t>inputFileName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ex: </a:t>
                      </a:r>
                      <a:r>
                        <a:rPr lang="en-US" dirty="0" err="1"/>
                        <a:t>scanFolder</a:t>
                      </a:r>
                      <a:r>
                        <a:rPr lang="en-US" dirty="0"/>
                        <a:t>/invoice.xml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381209"/>
                  </a:ext>
                </a:extLst>
              </a:tr>
              <a:tr h="337922">
                <a:tc>
                  <a:txBody>
                    <a:bodyPr/>
                    <a:lstStyle/>
                    <a:p>
                      <a:r>
                        <a:rPr lang="en-US" dirty="0" err="1"/>
                        <a:t>docId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Ex: invoice.xml_Invoice_0000001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607318"/>
                  </a:ext>
                </a:extLst>
              </a:tr>
              <a:tr h="337922">
                <a:tc>
                  <a:txBody>
                    <a:bodyPr/>
                    <a:lstStyle/>
                    <a:p>
                      <a:r>
                        <a:rPr lang="en-US" dirty="0" err="1"/>
                        <a:t>docIdx</a:t>
                      </a:r>
                      <a:r>
                        <a:rPr lang="en-US" dirty="0"/>
                        <a:t> (or </a:t>
                      </a:r>
                      <a:r>
                        <a:rPr lang="en-US" dirty="0" err="1"/>
                        <a:t>docNum</a:t>
                      </a:r>
                      <a:r>
                        <a:rPr lang="en-US" dirty="0"/>
                        <a:t>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document </a:t>
                      </a:r>
                      <a:r>
                        <a:rPr lang="en-US" dirty="0" err="1"/>
                        <a:t>numer</a:t>
                      </a:r>
                      <a:r>
                        <a:rPr lang="en-US" dirty="0"/>
                        <a:t>. Ex: 1, 2, 3, …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967755"/>
                  </a:ext>
                </a:extLst>
              </a:tr>
              <a:tr h="337922">
                <a:tc>
                  <a:txBody>
                    <a:bodyPr/>
                    <a:lstStyle/>
                    <a:p>
                      <a:r>
                        <a:rPr lang="fr-F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originExtension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Ex: txt, csv, …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869756"/>
                  </a:ext>
                </a:extLst>
              </a:tr>
              <a:tr h="337922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document type (ex: Invoice)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65392"/>
                  </a:ext>
                </a:extLst>
              </a:tr>
              <a:tr h="392110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dateTime</a:t>
                      </a:r>
                      <a:r>
                        <a:rPr lang="en-US" dirty="0"/>
                        <a:t> in milliseconds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511206"/>
                  </a:ext>
                </a:extLst>
              </a:tr>
              <a:tr h="337922">
                <a:tc>
                  <a:txBody>
                    <a:bodyPr/>
                    <a:lstStyle/>
                    <a:p>
                      <a:r>
                        <a:rPr lang="en-US" dirty="0"/>
                        <a:t>&lt;metadata&gt;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Metadata defined in the settings for this document type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14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6205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53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933" dirty="0"/>
              <a:t>Context example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21774E9-B8CE-4B64-B5C5-E7AFB4FCD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32" y="863659"/>
            <a:ext cx="7527117" cy="562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01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53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933" dirty="0"/>
              <a:t>Settings folder structure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01F2468-987A-45C2-B9B6-B93A7565B66D}"/>
              </a:ext>
            </a:extLst>
          </p:cNvPr>
          <p:cNvSpPr txBox="1"/>
          <p:nvPr/>
        </p:nvSpPr>
        <p:spPr>
          <a:xfrm>
            <a:off x="544749" y="1176421"/>
            <a:ext cx="73591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Settings are organized int the following way :</a:t>
            </a:r>
          </a:p>
          <a:p>
            <a:r>
              <a:rPr lang="en-US" dirty="0"/>
              <a:t>root : root folder for the setting, should contain the main properties file.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dsc</a:t>
            </a:r>
            <a:r>
              <a:rPr lang="en-US" dirty="0"/>
              <a:t> : description files (*.</a:t>
            </a:r>
            <a:r>
              <a:rPr lang="en-US" dirty="0" err="1"/>
              <a:t>dsc</a:t>
            </a:r>
            <a:r>
              <a:rPr lang="en-US" dirty="0"/>
              <a:t>, *.</a:t>
            </a:r>
            <a:r>
              <a:rPr lang="en-US" dirty="0" err="1"/>
              <a:t>pdfin</a:t>
            </a:r>
            <a:r>
              <a:rPr lang="en-US" dirty="0"/>
              <a:t>, *.</a:t>
            </a:r>
            <a:r>
              <a:rPr lang="en-US" dirty="0" err="1"/>
              <a:t>sapgofin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dirty="0"/>
              <a:t>dictionaries : xml structures definitions (blocks and fields organization)</a:t>
            </a:r>
          </a:p>
          <a:p>
            <a:pPr marL="285750" indent="-285750">
              <a:buFontTx/>
              <a:buChar char="-"/>
            </a:pPr>
            <a:r>
              <a:rPr lang="fr-FR" dirty="0"/>
              <a:t>scanners : directory scanning </a:t>
            </a:r>
            <a:r>
              <a:rPr lang="fr-FR" dirty="0" err="1"/>
              <a:t>definitions</a:t>
            </a:r>
            <a:r>
              <a:rPr lang="fr-FR" dirty="0"/>
              <a:t> (</a:t>
            </a:r>
            <a:r>
              <a:rPr lang="fr-FR" dirty="0" err="1"/>
              <a:t>any</a:t>
            </a:r>
            <a:r>
              <a:rPr lang="fr-FR" dirty="0"/>
              <a:t> number of folders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scanned</a:t>
            </a:r>
            <a:r>
              <a:rPr lang="fr-FR" dirty="0"/>
              <a:t> at the </a:t>
            </a:r>
            <a:r>
              <a:rPr lang="fr-FR" dirty="0" err="1"/>
              <a:t>same</a:t>
            </a:r>
            <a:r>
              <a:rPr lang="fr-FR" dirty="0"/>
              <a:t> time).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&lt;</a:t>
            </a:r>
            <a:r>
              <a:rPr lang="fr-FR" dirty="0" err="1"/>
              <a:t>scannerName</a:t>
            </a:r>
            <a:r>
              <a:rPr lang="fr-FR" dirty="0"/>
              <a:t>&gt;.</a:t>
            </a:r>
            <a:r>
              <a:rPr lang="fr-FR" dirty="0" err="1"/>
              <a:t>properties</a:t>
            </a:r>
            <a:r>
              <a:rPr lang="fr-FR" dirty="0"/>
              <a:t> :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scanned</a:t>
            </a:r>
            <a:r>
              <a:rPr lang="fr-FR" dirty="0"/>
              <a:t> folder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defined</a:t>
            </a:r>
            <a:r>
              <a:rPr lang="fr-FR" dirty="0"/>
              <a:t> in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dirty="0" err="1"/>
              <a:t>properties</a:t>
            </a:r>
            <a:r>
              <a:rPr lang="fr-FR" dirty="0"/>
              <a:t> file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All </a:t>
            </a:r>
            <a:r>
              <a:rPr lang="fr-FR" dirty="0" err="1"/>
              <a:t>properties</a:t>
            </a:r>
            <a:r>
              <a:rPr lang="fr-FR" dirty="0"/>
              <a:t> files in « scanners » directory are </a:t>
            </a:r>
            <a:r>
              <a:rPr lang="fr-FR" dirty="0" err="1"/>
              <a:t>loaded</a:t>
            </a:r>
            <a:r>
              <a:rPr lang="fr-FR" dirty="0"/>
              <a:t> and </a:t>
            </a:r>
            <a:r>
              <a:rPr lang="fr-FR" dirty="0" err="1"/>
              <a:t>started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xf</a:t>
            </a:r>
            <a:r>
              <a:rPr lang="fr-FR" dirty="0"/>
              <a:t> : OMS control job </a:t>
            </a:r>
            <a:r>
              <a:rPr lang="fr-FR" dirty="0" err="1"/>
              <a:t>definition</a:t>
            </a:r>
            <a:r>
              <a:rPr lang="fr-FR" dirty="0"/>
              <a:t> for </a:t>
            </a:r>
            <a:r>
              <a:rPr lang="fr-FR" dirty="0" err="1"/>
              <a:t>inputX</a:t>
            </a:r>
            <a:r>
              <a:rPr lang="fr-FR" dirty="0"/>
              <a:t> (</a:t>
            </a:r>
            <a:r>
              <a:rPr lang="fr-FR" dirty="0" err="1"/>
              <a:t>pdfIn</a:t>
            </a:r>
            <a:r>
              <a:rPr lang="fr-FR" dirty="0"/>
              <a:t>, </a:t>
            </a:r>
            <a:r>
              <a:rPr lang="fr-FR" dirty="0" err="1"/>
              <a:t>otfIn</a:t>
            </a:r>
            <a:r>
              <a:rPr lang="fr-FR" dirty="0"/>
              <a:t>)</a:t>
            </a:r>
          </a:p>
          <a:p>
            <a:pPr marL="285750" indent="-285750">
              <a:buFontTx/>
              <a:buChar char="-"/>
            </a:pPr>
            <a:r>
              <a:rPr lang="fr-FR" dirty="0"/>
              <a:t>log  : log files</a:t>
            </a:r>
          </a:p>
          <a:p>
            <a:pPr marL="285750" indent="-285750">
              <a:buFontTx/>
              <a:buChar char="-"/>
            </a:pPr>
            <a:r>
              <a:rPr lang="fr-FR" dirty="0"/>
              <a:t>bak : backup files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F072879-2BEF-4883-BE99-D5F98256C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664" y="1147041"/>
            <a:ext cx="2765462" cy="534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927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53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933" dirty="0"/>
              <a:t>Start up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01F2468-987A-45C2-B9B6-B93A7565B66D}"/>
              </a:ext>
            </a:extLst>
          </p:cNvPr>
          <p:cNvSpPr txBox="1"/>
          <p:nvPr/>
        </p:nvSpPr>
        <p:spPr>
          <a:xfrm>
            <a:off x="838200" y="1176421"/>
            <a:ext cx="10515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Daemon (scanning directories) 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Java –jar </a:t>
            </a:r>
            <a:r>
              <a:rPr lang="fr-FR" sz="1400" dirty="0">
                <a:solidFill>
                  <a:srgbClr val="004080"/>
                </a:solidFill>
                <a:latin typeface="Consolas" panose="020B0609020204030204" pitchFamily="49" charset="0"/>
              </a:rPr>
              <a:t>-</a:t>
            </a:r>
            <a:r>
              <a:rPr lang="fr-FR" sz="1400" dirty="0" err="1">
                <a:solidFill>
                  <a:srgbClr val="004080"/>
                </a:solidFill>
                <a:latin typeface="Consolas" panose="020B0609020204030204" pitchFamily="49" charset="0"/>
              </a:rPr>
              <a:t>cp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KWAdapter.jar;KWAdapter_lib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\* </a:t>
            </a:r>
            <a:r>
              <a:rPr lang="en-US" sz="1400" dirty="0">
                <a:latin typeface="Consolas" panose="020B0609020204030204" pitchFamily="49" charset="0"/>
              </a:rPr>
              <a:t>-</a:t>
            </a:r>
            <a:r>
              <a:rPr lang="en-US" sz="1400" dirty="0" err="1">
                <a:latin typeface="Consolas" panose="020B0609020204030204" pitchFamily="49" charset="0"/>
              </a:rPr>
              <a:t>Djava.io.tmpdir</a:t>
            </a:r>
            <a:r>
              <a:rPr lang="en-US" sz="1400" dirty="0">
                <a:latin typeface="Consolas" panose="020B0609020204030204" pitchFamily="49" charset="0"/>
              </a:rPr>
              <a:t>=</a:t>
            </a:r>
            <a:r>
              <a:rPr lang="en-US" sz="1400" dirty="0" err="1">
                <a:latin typeface="Consolas" panose="020B0609020204030204" pitchFamily="49" charset="0"/>
              </a:rPr>
              <a:t>tmp</a:t>
            </a:r>
            <a:r>
              <a:rPr lang="en-US" sz="1400" dirty="0">
                <a:latin typeface="Consolas" panose="020B0609020204030204" pitchFamily="49" charset="0"/>
              </a:rPr>
              <a:t> -</a:t>
            </a:r>
            <a:r>
              <a:rPr lang="en-US" sz="1400" dirty="0" err="1">
                <a:latin typeface="Consolas" panose="020B0609020204030204" pitchFamily="49" charset="0"/>
              </a:rPr>
              <a:t>Dkwsoft.env.globalcontext</a:t>
            </a:r>
            <a:r>
              <a:rPr lang="en-US" sz="1400" dirty="0">
                <a:latin typeface="Consolas" panose="020B0609020204030204" pitchFamily="49" charset="0"/>
              </a:rPr>
              <a:t>=</a:t>
            </a:r>
            <a:r>
              <a:rPr lang="en-US" sz="1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ini</a:t>
            </a:r>
            <a:r>
              <a:rPr lang="en-US" sz="1400" b="1" dirty="0">
                <a:highlight>
                  <a:srgbClr val="FFFF00"/>
                </a:highlight>
                <a:latin typeface="Consolas" panose="020B0609020204030204" pitchFamily="49" charset="0"/>
              </a:rPr>
              <a:t>\client.ini</a:t>
            </a:r>
            <a:r>
              <a:rPr lang="en-US" sz="1400" b="1" dirty="0"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fr.kw.adapter.engine.scanner.StartScanners</a:t>
            </a:r>
            <a:r>
              <a:rPr lang="en-US" sz="1400" b="1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-config </a:t>
            </a:r>
            <a:r>
              <a:rPr lang="en-US" sz="1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main.properties</a:t>
            </a:r>
            <a:endParaRPr lang="en-US" sz="1400" b="1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en-US" b="1" dirty="0"/>
              <a:t>One shot (process file and stop) 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Java –jar </a:t>
            </a:r>
            <a:r>
              <a:rPr lang="fr-FR" sz="1400" dirty="0">
                <a:solidFill>
                  <a:srgbClr val="004080"/>
                </a:solidFill>
                <a:latin typeface="Consolas" panose="020B0609020204030204" pitchFamily="49" charset="0"/>
              </a:rPr>
              <a:t>-</a:t>
            </a:r>
            <a:r>
              <a:rPr lang="fr-FR" sz="1400" dirty="0" err="1">
                <a:solidFill>
                  <a:srgbClr val="004080"/>
                </a:solidFill>
                <a:latin typeface="Consolas" panose="020B0609020204030204" pitchFamily="49" charset="0"/>
              </a:rPr>
              <a:t>cp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KWAdapter.jar;KWAdapter_lib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\* </a:t>
            </a:r>
            <a:r>
              <a:rPr lang="en-US" sz="1400" dirty="0">
                <a:latin typeface="Consolas" panose="020B0609020204030204" pitchFamily="49" charset="0"/>
              </a:rPr>
              <a:t>-</a:t>
            </a:r>
            <a:r>
              <a:rPr lang="en-US" sz="1400" dirty="0" err="1">
                <a:latin typeface="Consolas" panose="020B0609020204030204" pitchFamily="49" charset="0"/>
              </a:rPr>
              <a:t>Djava.io.tmpdir</a:t>
            </a:r>
            <a:r>
              <a:rPr lang="en-US" sz="1400" dirty="0">
                <a:latin typeface="Consolas" panose="020B0609020204030204" pitchFamily="49" charset="0"/>
              </a:rPr>
              <a:t>=</a:t>
            </a:r>
            <a:r>
              <a:rPr lang="en-US" sz="1400" dirty="0" err="1">
                <a:latin typeface="Consolas" panose="020B0609020204030204" pitchFamily="49" charset="0"/>
              </a:rPr>
              <a:t>tmp</a:t>
            </a:r>
            <a:r>
              <a:rPr lang="en-US" sz="1400" dirty="0">
                <a:latin typeface="Consolas" panose="020B0609020204030204" pitchFamily="49" charset="0"/>
              </a:rPr>
              <a:t> -</a:t>
            </a:r>
            <a:r>
              <a:rPr lang="en-US" sz="1400" dirty="0" err="1">
                <a:latin typeface="Consolas" panose="020B0609020204030204" pitchFamily="49" charset="0"/>
              </a:rPr>
              <a:t>Dkwsoft.env.globalcontext</a:t>
            </a:r>
            <a:r>
              <a:rPr lang="en-US" sz="1400" dirty="0">
                <a:latin typeface="Consolas" panose="020B0609020204030204" pitchFamily="49" charset="0"/>
              </a:rPr>
              <a:t>=</a:t>
            </a:r>
            <a:r>
              <a:rPr lang="en-US" sz="1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ini</a:t>
            </a:r>
            <a:r>
              <a:rPr lang="en-US" sz="1400" b="1" dirty="0">
                <a:highlight>
                  <a:srgbClr val="FFFF00"/>
                </a:highlight>
                <a:latin typeface="Consolas" panose="020B0609020204030204" pitchFamily="49" charset="0"/>
              </a:rPr>
              <a:t>\client.ini</a:t>
            </a:r>
            <a:r>
              <a:rPr lang="en-US" sz="1400" b="1" dirty="0"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fr.kw.adapter.engine.ProcessFile</a:t>
            </a:r>
            <a:r>
              <a:rPr lang="en-US" sz="1400" b="1" dirty="0">
                <a:latin typeface="Consolas" panose="020B0609020204030204" pitchFamily="49" charset="0"/>
              </a:rPr>
              <a:t> [</a:t>
            </a:r>
            <a:r>
              <a:rPr lang="en-US" sz="1400" dirty="0">
                <a:latin typeface="Consolas" panose="020B0609020204030204" pitchFamily="49" charset="0"/>
              </a:rPr>
              <a:t>-</a:t>
            </a:r>
            <a:r>
              <a:rPr lang="en-US" sz="1400" dirty="0" err="1">
                <a:latin typeface="Consolas" panose="020B0609020204030204" pitchFamily="49" charset="0"/>
              </a:rPr>
              <a:t>baseConfig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main.properties</a:t>
            </a:r>
            <a:r>
              <a:rPr lang="en-US" sz="1400" b="1" dirty="0">
                <a:latin typeface="Consolas" panose="020B0609020204030204" pitchFamily="49" charset="0"/>
              </a:rPr>
              <a:t> ] </a:t>
            </a:r>
            <a:r>
              <a:rPr lang="en-US" sz="1400" dirty="0">
                <a:latin typeface="Consolas" panose="020B0609020204030204" pitchFamily="49" charset="0"/>
              </a:rPr>
              <a:t>–config</a:t>
            </a:r>
            <a:r>
              <a:rPr lang="en-US" sz="1400" b="1" dirty="0">
                <a:latin typeface="Consolas" panose="020B0609020204030204" pitchFamily="49" charset="0"/>
              </a:rPr>
              <a:t> </a:t>
            </a:r>
            <a:r>
              <a:rPr lang="en-US" sz="1400" b="1" dirty="0">
                <a:highlight>
                  <a:srgbClr val="FFFF00"/>
                </a:highlight>
                <a:latin typeface="Consolas" panose="020B0609020204030204" pitchFamily="49" charset="0"/>
              </a:rPr>
              <a:t>scanners/</a:t>
            </a:r>
            <a:r>
              <a:rPr lang="en-US" sz="1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csvScanner.properties</a:t>
            </a:r>
            <a:r>
              <a:rPr lang="en-US" sz="1400" dirty="0">
                <a:latin typeface="Consolas" panose="020B0609020204030204" pitchFamily="49" charset="0"/>
              </a:rPr>
              <a:t>-in </a:t>
            </a:r>
            <a:r>
              <a:rPr lang="en-US" sz="1400" b="1" dirty="0">
                <a:highlight>
                  <a:srgbClr val="FFFF00"/>
                </a:highlight>
                <a:latin typeface="Consolas" panose="020B0609020204030204" pitchFamily="49" charset="0"/>
              </a:rPr>
              <a:t>example\bigBatch.xml</a:t>
            </a:r>
            <a:endParaRPr lang="en-US" sz="1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endParaRPr lang="fr-FR" dirty="0"/>
          </a:p>
          <a:p>
            <a:r>
              <a:rPr lang="fr-FR" dirty="0">
                <a:solidFill>
                  <a:srgbClr val="FF0000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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Take</a:t>
            </a:r>
            <a:r>
              <a:rPr lang="fr-FR" dirty="0">
                <a:sym typeface="Wingdings" panose="05000000000000000000" pitchFamily="2" charset="2"/>
              </a:rPr>
              <a:t> care ! The </a:t>
            </a:r>
            <a:r>
              <a:rPr lang="fr-FR" b="1" dirty="0">
                <a:sym typeface="Wingdings" panose="05000000000000000000" pitchFamily="2" charset="2"/>
              </a:rPr>
              <a:t>client.ini</a:t>
            </a:r>
            <a:r>
              <a:rPr lang="fr-FR" dirty="0">
                <a:sym typeface="Wingdings" panose="05000000000000000000" pitchFamily="2" charset="2"/>
              </a:rPr>
              <a:t> file </a:t>
            </a:r>
            <a:r>
              <a:rPr lang="fr-FR" dirty="0" err="1">
                <a:sym typeface="Wingdings" panose="05000000000000000000" pitchFamily="2" charset="2"/>
              </a:rPr>
              <a:t>also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contains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connection</a:t>
            </a:r>
            <a:r>
              <a:rPr lang="fr-FR" dirty="0">
                <a:sym typeface="Wingdings" panose="05000000000000000000" pitchFamily="2" charset="2"/>
              </a:rPr>
              <a:t> information to KW server (url, user, </a:t>
            </a:r>
            <a:r>
              <a:rPr lang="fr-FR" dirty="0" err="1">
                <a:sym typeface="Wingdings" panose="05000000000000000000" pitchFamily="2" charset="2"/>
              </a:rPr>
              <a:t>password</a:t>
            </a:r>
            <a:r>
              <a:rPr lang="fr-FR" dirty="0">
                <a:sym typeface="Wingdings" panose="05000000000000000000" pitchFamily="2" charset="2"/>
              </a:rPr>
              <a:t>). It must suit </a:t>
            </a:r>
            <a:r>
              <a:rPr lang="fr-FR" dirty="0" err="1">
                <a:sym typeface="Wingdings" panose="05000000000000000000" pitchFamily="2" charset="2"/>
              </a:rPr>
              <a:t>each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environment</a:t>
            </a:r>
            <a:r>
              <a:rPr lang="fr-FR" dirty="0">
                <a:sym typeface="Wingdings" panose="05000000000000000000" pitchFamily="2" charset="2"/>
              </a:rPr>
              <a:t> and </a:t>
            </a:r>
            <a:r>
              <a:rPr lang="fr-FR" dirty="0" err="1">
                <a:sym typeface="Wingdings" panose="05000000000000000000" pitchFamily="2" charset="2"/>
              </a:rPr>
              <a:t>is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automatically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created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during</a:t>
            </a:r>
            <a:r>
              <a:rPr lang="fr-FR" dirty="0">
                <a:sym typeface="Wingdings" panose="05000000000000000000" pitchFamily="2" charset="2"/>
              </a:rPr>
              <a:t> the installation (</a:t>
            </a:r>
            <a:r>
              <a:rPr lang="fr-FR" dirty="0" err="1">
                <a:sym typeface="Wingdings" panose="05000000000000000000" pitchFamily="2" charset="2"/>
              </a:rPr>
              <a:t>Assembly</a:t>
            </a:r>
            <a:r>
              <a:rPr lang="fr-FR" dirty="0">
                <a:sym typeface="Wingdings" panose="05000000000000000000" pitchFamily="2" charset="2"/>
              </a:rPr>
              <a:t> stage).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4534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idx="4294967295"/>
          </p:nvPr>
        </p:nvSpPr>
        <p:spPr>
          <a:xfrm>
            <a:off x="747275" y="774816"/>
            <a:ext cx="11042649" cy="49853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933" dirty="0"/>
              <a:t>JDBC </a:t>
            </a:r>
            <a:r>
              <a:rPr lang="en-GB" sz="2933" dirty="0" err="1"/>
              <a:t>datasources</a:t>
            </a:r>
            <a:endParaRPr lang="en-GB" sz="2933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2CE75C7-D1AD-4460-81C6-1C0565FF0DAA}"/>
              </a:ext>
            </a:extLst>
          </p:cNvPr>
          <p:cNvSpPr txBox="1"/>
          <p:nvPr/>
        </p:nvSpPr>
        <p:spPr>
          <a:xfrm>
            <a:off x="481263" y="1395663"/>
            <a:ext cx="992471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Declare additional </a:t>
            </a:r>
            <a:r>
              <a:rPr lang="en-US" sz="1600" dirty="0" err="1"/>
              <a:t>datasource</a:t>
            </a:r>
            <a:r>
              <a:rPr lang="en-US" sz="1600" dirty="0"/>
              <a:t> in document settings :</a:t>
            </a:r>
          </a:p>
          <a:p>
            <a:r>
              <a:rPr lang="fr-FR" sz="1600" dirty="0" err="1">
                <a:latin typeface="Consolas" panose="020B0609020204030204" pitchFamily="49" charset="0"/>
              </a:rPr>
              <a:t>Willkommen_ADDITIONAL_DATASOURCES</a:t>
            </a:r>
            <a:r>
              <a:rPr lang="fr-FR" sz="1600" dirty="0">
                <a:latin typeface="Consolas" panose="020B0609020204030204" pitchFamily="49" charset="0"/>
              </a:rPr>
              <a:t>=</a:t>
            </a:r>
            <a:r>
              <a:rPr lang="fr-FR" sz="1600" dirty="0" err="1">
                <a:latin typeface="Consolas" panose="020B0609020204030204" pitchFamily="49" charset="0"/>
              </a:rPr>
              <a:t>testJdbc:JDBC</a:t>
            </a:r>
            <a:r>
              <a:rPr lang="fr-FR" sz="1600" dirty="0">
                <a:latin typeface="Consolas" panose="020B0609020204030204" pitchFamily="49" charset="0"/>
              </a:rPr>
              <a:t>(</a:t>
            </a:r>
            <a:r>
              <a:rPr lang="fr-FR" sz="1600" u="sng" dirty="0" err="1">
                <a:latin typeface="Consolas" panose="020B0609020204030204" pitchFamily="49" charset="0"/>
              </a:rPr>
              <a:t>jdbc</a:t>
            </a:r>
            <a:r>
              <a:rPr lang="fr-FR" sz="1600" u="sng" dirty="0">
                <a:latin typeface="Consolas" panose="020B0609020204030204" pitchFamily="49" charset="0"/>
              </a:rPr>
              <a:t>/</a:t>
            </a:r>
            <a:r>
              <a:rPr lang="fr-FR" sz="1600" u="sng" dirty="0" err="1">
                <a:latin typeface="Consolas" panose="020B0609020204030204" pitchFamily="49" charset="0"/>
              </a:rPr>
              <a:t>test.jdbc</a:t>
            </a:r>
            <a:r>
              <a:rPr lang="fr-FR" sz="1600" u="sng" dirty="0"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latin typeface="Consolas" panose="020B0609020204030204" pitchFamily="49" charset="0"/>
              </a:rPr>
              <a:t>The </a:t>
            </a:r>
            <a:r>
              <a:rPr lang="fr-FR" sz="1600" dirty="0" err="1">
                <a:latin typeface="Consolas" panose="020B0609020204030204" pitchFamily="49" charset="0"/>
              </a:rPr>
              <a:t>syntax</a:t>
            </a:r>
            <a:r>
              <a:rPr lang="fr-FR" sz="1600" dirty="0">
                <a:latin typeface="Consolas" panose="020B0609020204030204" pitchFamily="49" charset="0"/>
              </a:rPr>
              <a:t> </a:t>
            </a:r>
            <a:r>
              <a:rPr lang="fr-FR" sz="1600" dirty="0" err="1">
                <a:latin typeface="Consolas" panose="020B0609020204030204" pitchFamily="49" charset="0"/>
              </a:rPr>
              <a:t>is</a:t>
            </a:r>
            <a:r>
              <a:rPr lang="fr-FR" sz="1600" dirty="0">
                <a:latin typeface="Consolas" panose="020B0609020204030204" pitchFamily="49" charset="0"/>
              </a:rPr>
              <a:t> :</a:t>
            </a:r>
          </a:p>
          <a:p>
            <a:r>
              <a:rPr lang="fr-FR" sz="1600" dirty="0">
                <a:solidFill>
                  <a:schemeClr val="accent1"/>
                </a:solidFill>
                <a:latin typeface="Consolas" panose="020B0609020204030204" pitchFamily="49" charset="0"/>
              </a:rPr>
              <a:t>&lt;</a:t>
            </a:r>
            <a:r>
              <a:rPr lang="fr-FR" sz="1600" dirty="0" err="1">
                <a:solidFill>
                  <a:schemeClr val="accent1"/>
                </a:solidFill>
                <a:latin typeface="Consolas" panose="020B0609020204030204" pitchFamily="49" charset="0"/>
              </a:rPr>
              <a:t>docName</a:t>
            </a:r>
            <a:r>
              <a:rPr lang="fr-FR" sz="1600" dirty="0">
                <a:solidFill>
                  <a:schemeClr val="accent1"/>
                </a:solidFill>
                <a:latin typeface="Consolas" panose="020B0609020204030204" pitchFamily="49" charset="0"/>
              </a:rPr>
              <a:t>&gt;_ADDITIONAL_DATASOURCES</a:t>
            </a:r>
            <a:r>
              <a:rPr lang="fr-FR" sz="1600" dirty="0">
                <a:latin typeface="Consolas" panose="020B0609020204030204" pitchFamily="49" charset="0"/>
              </a:rPr>
              <a:t>=&lt;</a:t>
            </a:r>
            <a:r>
              <a:rPr lang="fr-FR" sz="1600" dirty="0" err="1">
                <a:latin typeface="Consolas" panose="020B0609020204030204" pitchFamily="49" charset="0"/>
              </a:rPr>
              <a:t>dataSourceName</a:t>
            </a:r>
            <a:r>
              <a:rPr lang="fr-FR" sz="1600" dirty="0">
                <a:latin typeface="Consolas" panose="020B0609020204030204" pitchFamily="49" charset="0"/>
              </a:rPr>
              <a:t>&gt;:JDBC(</a:t>
            </a:r>
            <a:r>
              <a:rPr lang="fr-FR" sz="1600" dirty="0" err="1">
                <a:latin typeface="Consolas" panose="020B0609020204030204" pitchFamily="49" charset="0"/>
              </a:rPr>
              <a:t>path</a:t>
            </a:r>
            <a:r>
              <a:rPr lang="fr-FR" sz="1600" dirty="0">
                <a:latin typeface="Consolas" panose="020B0609020204030204" pitchFamily="49" charset="0"/>
              </a:rPr>
              <a:t> to </a:t>
            </a:r>
            <a:r>
              <a:rPr lang="fr-FR" sz="1600" dirty="0" err="1">
                <a:latin typeface="Consolas" panose="020B0609020204030204" pitchFamily="49" charset="0"/>
              </a:rPr>
              <a:t>jdbc</a:t>
            </a:r>
            <a:r>
              <a:rPr lang="fr-FR" sz="1600" dirty="0">
                <a:latin typeface="Consolas" panose="020B0609020204030204" pitchFamily="49" charset="0"/>
              </a:rPr>
              <a:t> settings);</a:t>
            </a:r>
            <a:r>
              <a:rPr lang="fr-FR" sz="1600" dirty="0" err="1">
                <a:latin typeface="Consolas" panose="020B0609020204030204" pitchFamily="49" charset="0"/>
              </a:rPr>
              <a:t>other</a:t>
            </a:r>
            <a:r>
              <a:rPr lang="fr-FR" sz="1600" dirty="0">
                <a:latin typeface="Consolas" panose="020B0609020204030204" pitchFamily="49" charset="0"/>
              </a:rPr>
              <a:t> data source(s)…</a:t>
            </a:r>
          </a:p>
          <a:p>
            <a:endParaRPr lang="fr-FR" dirty="0"/>
          </a:p>
          <a:p>
            <a:r>
              <a:rPr lang="fr-FR" dirty="0"/>
              <a:t>The value for &lt;</a:t>
            </a:r>
            <a:r>
              <a:rPr lang="fr-FR" dirty="0" err="1"/>
              <a:t>dataSourceName</a:t>
            </a:r>
            <a:r>
              <a:rPr lang="fr-FR" dirty="0"/>
              <a:t>&gt;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to </a:t>
            </a:r>
            <a:r>
              <a:rPr lang="fr-FR" dirty="0" err="1"/>
              <a:t>declare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in the KW </a:t>
            </a:r>
            <a:r>
              <a:rPr lang="fr-FR" dirty="0" err="1"/>
              <a:t>template</a:t>
            </a:r>
            <a:r>
              <a:rPr lang="fr-FR" dirty="0"/>
              <a:t> :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1D0C4B2-F9CF-4001-9AFF-00E3DC5DF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63" y="3672412"/>
            <a:ext cx="4255510" cy="254483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094630E-AB91-4948-B080-7C000C605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0916" y="3903748"/>
            <a:ext cx="6645063" cy="2154437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C494E57B-C944-4308-9743-9A695B2BE742}"/>
              </a:ext>
            </a:extLst>
          </p:cNvPr>
          <p:cNvSpPr/>
          <p:nvPr/>
        </p:nvSpPr>
        <p:spPr>
          <a:xfrm>
            <a:off x="1074057" y="5960533"/>
            <a:ext cx="774095" cy="2128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0363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idx="4294967295"/>
          </p:nvPr>
        </p:nvSpPr>
        <p:spPr>
          <a:xfrm>
            <a:off x="747275" y="774816"/>
            <a:ext cx="11042649" cy="498534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defTabSz="720000">
              <a:tabLst>
                <a:tab pos="720000" algn="l"/>
                <a:tab pos="2869200" algn="l"/>
              </a:tabLst>
            </a:pPr>
            <a:r>
              <a:rPr lang="en-GB" sz="2933" dirty="0"/>
              <a:t>JDBC settings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395" y="212643"/>
            <a:ext cx="2194564" cy="10607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2CE75C7-D1AD-4460-81C6-1C0565FF0DAA}"/>
              </a:ext>
            </a:extLst>
          </p:cNvPr>
          <p:cNvSpPr txBox="1"/>
          <p:nvPr/>
        </p:nvSpPr>
        <p:spPr>
          <a:xfrm>
            <a:off x="517651" y="1294170"/>
            <a:ext cx="11042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JDBC follows this syntax (See below). The settings are parsed with </a:t>
            </a:r>
            <a:r>
              <a:rPr lang="en-US" dirty="0" err="1"/>
              <a:t>Freemarker</a:t>
            </a:r>
            <a:r>
              <a:rPr lang="en-US" dirty="0"/>
              <a:t>, the XML data from main </a:t>
            </a:r>
            <a:r>
              <a:rPr lang="en-US" dirty="0" err="1"/>
              <a:t>datasource</a:t>
            </a:r>
            <a:r>
              <a:rPr lang="en-US" dirty="0"/>
              <a:t> is available.</a:t>
            </a: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E440B25-24D5-4B8D-BCCB-E41E4CC33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64" y="1909372"/>
            <a:ext cx="10697593" cy="287992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B2FB0B2-8E4A-435F-B7DA-069E56B5B746}"/>
              </a:ext>
            </a:extLst>
          </p:cNvPr>
          <p:cNvSpPr txBox="1"/>
          <p:nvPr/>
        </p:nvSpPr>
        <p:spPr>
          <a:xfrm>
            <a:off x="337226" y="4686667"/>
            <a:ext cx="97600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number of </a:t>
            </a:r>
            <a:r>
              <a:rPr lang="en-US" dirty="0" err="1"/>
              <a:t>datasources</a:t>
            </a:r>
            <a:r>
              <a:rPr lang="en-US" dirty="0"/>
              <a:t> is possible, their “id” must be unique.</a:t>
            </a:r>
          </a:p>
          <a:p>
            <a:r>
              <a:rPr lang="en-US" dirty="0"/>
              <a:t>Queries can be </a:t>
            </a:r>
            <a:r>
              <a:rPr lang="en-US" dirty="0" err="1"/>
              <a:t>interwined</a:t>
            </a:r>
            <a:r>
              <a:rPr lang="en-US" dirty="0"/>
              <a:t>, the name will be used for the record that contains the values.</a:t>
            </a:r>
          </a:p>
          <a:p>
            <a:r>
              <a:rPr lang="en-US" dirty="0"/>
              <a:t>When </a:t>
            </a:r>
            <a:r>
              <a:rPr lang="en-US" dirty="0" err="1"/>
              <a:t>interwined</a:t>
            </a:r>
            <a:r>
              <a:rPr lang="en-US" dirty="0"/>
              <a:t>, the child query is run for each parent query record.</a:t>
            </a:r>
          </a:p>
          <a:p>
            <a:r>
              <a:rPr lang="en-US" dirty="0"/>
              <a:t>Child queries can refer to parent queries values using &amp;{&lt;</a:t>
            </a:r>
            <a:r>
              <a:rPr lang="en-US" dirty="0" err="1"/>
              <a:t>parentQueryName</a:t>
            </a:r>
            <a:r>
              <a:rPr lang="en-US" dirty="0"/>
              <a:t>&gt;.&lt;fieldname&gt;}.</a:t>
            </a:r>
          </a:p>
          <a:p>
            <a:r>
              <a:rPr lang="en-US" dirty="0"/>
              <a:t>Values from document context can be used directly with </a:t>
            </a:r>
            <a:r>
              <a:rPr lang="en-US" dirty="0" err="1"/>
              <a:t>Freemarker</a:t>
            </a:r>
            <a:r>
              <a:rPr lang="en-US" dirty="0"/>
              <a:t> syntax.</a:t>
            </a:r>
          </a:p>
          <a:p>
            <a:r>
              <a:rPr lang="en-US" dirty="0"/>
              <a:t>Update queries can also be run for each query (globally of for each record returned).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2565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1206</Words>
  <Application>Microsoft Office PowerPoint</Application>
  <PresentationFormat>Grand écran</PresentationFormat>
  <Paragraphs>140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Open Sans</vt:lpstr>
      <vt:lpstr>Wingdings</vt:lpstr>
      <vt:lpstr>Thème Office</vt:lpstr>
      <vt:lpstr> KW Adapter SerieM Interface    </vt:lpstr>
      <vt:lpstr>WHY ? StreamServe Migration - Re-use StreamServe configuration - process non XML data : FieldIn, RecordIn, RDI - Mapping fields for PDF, OTF - Directory scanning Integration Helper - Any input format - Pre-Process data (filter, stylesheet) - Additional data (File, jdbc, script) </vt:lpstr>
      <vt:lpstr>KW compliance - Converts any data stream into XML - Splits large Xml into individual documents - Uses Rest API when available, Java API when needed - Document individual settings :  - print to MOMS ?  - Save Tonic document ?  - export PDF ?  - MOMS parameters, template metadatas</vt:lpstr>
      <vt:lpstr>Process Overview</vt:lpstr>
      <vt:lpstr>Modules</vt:lpstr>
      <vt:lpstr>Field In example</vt:lpstr>
      <vt:lpstr>RDI example</vt:lpstr>
      <vt:lpstr>PDF or OTF</vt:lpstr>
      <vt:lpstr>Main Settings</vt:lpstr>
      <vt:lpstr>Context</vt:lpstr>
      <vt:lpstr>Context example</vt:lpstr>
      <vt:lpstr>Settings folder structure</vt:lpstr>
      <vt:lpstr>Start up</vt:lpstr>
      <vt:lpstr>JDBC datasources</vt:lpstr>
      <vt:lpstr>JDBC settings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KW Adapter Interface between SerieM and world</dc:title>
  <dc:creator>Durand Stéphane</dc:creator>
  <cp:lastModifiedBy>Stéphane Durand</cp:lastModifiedBy>
  <cp:revision>31</cp:revision>
  <dcterms:created xsi:type="dcterms:W3CDTF">2021-11-16T09:17:51Z</dcterms:created>
  <dcterms:modified xsi:type="dcterms:W3CDTF">2023-02-24T10:32:41Z</dcterms:modified>
</cp:coreProperties>
</file>